
<file path=[Content_Types].xml><?xml version="1.0" encoding="utf-8"?>
<Types xmlns="http://schemas.openxmlformats.org/package/2006/content-types">
  <Default Extension="png" ContentType="image/png"/>
  <Default Extension="jpeg" ContentType="image/jpeg"/>
  <Default Extension="glb" ContentType="model/gltf.binary"/>
  <Default Extension="rels" ContentType="application/vnd.openxmlformats-package.relationships+xml"/>
  <Default Extension="xml" ContentType="application/xml"/>
  <Default Extension="wdp" ContentType="image/vnd.ms-photo"/>
  <Default Extension="mp4" ContentType="video/unknown"/>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4" r:id="rId9"/>
  </p:sldIdLst>
  <p:sldSz cx="12192000" cy="6858000"/>
  <p:notesSz cx="6858000" cy="9144000"/>
  <p:defaultText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97" autoAdjust="0"/>
    <p:restoredTop sz="94660"/>
  </p:normalViewPr>
  <p:slideViewPr>
    <p:cSldViewPr snapToGrid="0">
      <p:cViewPr>
        <p:scale>
          <a:sx n="96" d="100"/>
          <a:sy n="96" d="100"/>
        </p:scale>
        <p:origin x="-389" y="3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8E3A9D-36B4-48F8-98E0-F063B5709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JO"/>
          </a:p>
        </p:txBody>
      </p:sp>
      <p:sp>
        <p:nvSpPr>
          <p:cNvPr id="3" name="Subtitle 2">
            <a:extLst>
              <a:ext uri="{FF2B5EF4-FFF2-40B4-BE49-F238E27FC236}">
                <a16:creationId xmlns:a16="http://schemas.microsoft.com/office/drawing/2014/main" xmlns="" id="{C5C8A38B-50DD-4EAD-8E1B-4A1411BAB5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JO"/>
          </a:p>
        </p:txBody>
      </p:sp>
      <p:sp>
        <p:nvSpPr>
          <p:cNvPr id="4" name="Date Placeholder 3">
            <a:extLst>
              <a:ext uri="{FF2B5EF4-FFF2-40B4-BE49-F238E27FC236}">
                <a16:creationId xmlns:a16="http://schemas.microsoft.com/office/drawing/2014/main" xmlns="" id="{61F3179B-73BE-4B63-9EB1-0A66E0A68D7F}"/>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6A95F28A-91DA-4DC0-A98E-64DB1124E6F8}"/>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xmlns="" id="{9DF0AFCA-04AA-483E-A54F-BA8476667D8F}"/>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2439504851"/>
      </p:ext>
    </p:extLst>
  </p:cSld>
  <p:clrMapOvr>
    <a:masterClrMapping/>
  </p:clrMapOvr>
  <p:transition spd="slow" advClick="0" advTm="2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6DDF70-EABD-4FD0-8C4E-D87C0BA920B0}"/>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xmlns="" id="{74FCF6E8-6061-421B-98E0-4376425772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xmlns="" id="{78EF0714-BFA3-4882-814B-5086F029A8B3}"/>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21B56DEE-C6FC-4324-B67E-992E7688BD36}"/>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xmlns="" id="{11755C3F-863A-426E-84FB-CC8468F0D95F}"/>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1274423667"/>
      </p:ext>
    </p:extLst>
  </p:cSld>
  <p:clrMapOvr>
    <a:masterClrMapping/>
  </p:clrMapOvr>
  <p:transition spd="slow" advClick="0" advTm="2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95F4C9-1F71-416D-A690-0C7DC3F437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JO"/>
          </a:p>
        </p:txBody>
      </p:sp>
      <p:sp>
        <p:nvSpPr>
          <p:cNvPr id="3" name="Text Placeholder 2">
            <a:extLst>
              <a:ext uri="{FF2B5EF4-FFF2-40B4-BE49-F238E27FC236}">
                <a16:creationId xmlns:a16="http://schemas.microsoft.com/office/drawing/2014/main" xmlns="" id="{218CE26D-35F9-401B-9B68-636C0D56B8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3BB14FB-5632-4D6B-9B67-8A2781EBA5AB}"/>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CAAE3CEC-46AB-4422-95DB-72EB1EF35AFF}"/>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xmlns="" id="{CF6F3B38-7EE4-4E38-B547-31BF0CD98D9D}"/>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2538415486"/>
      </p:ext>
    </p:extLst>
  </p:cSld>
  <p:clrMapOvr>
    <a:masterClrMapping/>
  </p:clrMapOvr>
  <p:transition spd="slow" advClick="0" advTm="2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AE6BDF-FB71-4DF2-8B81-51BCEBE65B78}"/>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xmlns="" id="{C4154034-EA65-4359-B8EA-C3A57B0C9F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Content Placeholder 3">
            <a:extLst>
              <a:ext uri="{FF2B5EF4-FFF2-40B4-BE49-F238E27FC236}">
                <a16:creationId xmlns:a16="http://schemas.microsoft.com/office/drawing/2014/main" xmlns="" id="{741A3B3C-47C3-405B-B73B-BEAFFBBB07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Date Placeholder 4">
            <a:extLst>
              <a:ext uri="{FF2B5EF4-FFF2-40B4-BE49-F238E27FC236}">
                <a16:creationId xmlns:a16="http://schemas.microsoft.com/office/drawing/2014/main" xmlns="" id="{8E86AE78-3E5B-4067-B42A-949D9CEFF604}"/>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6" name="Footer Placeholder 5">
            <a:extLst>
              <a:ext uri="{FF2B5EF4-FFF2-40B4-BE49-F238E27FC236}">
                <a16:creationId xmlns:a16="http://schemas.microsoft.com/office/drawing/2014/main" xmlns="" id="{4B640981-DEA6-4F6C-98C6-6B6C42B7CC49}"/>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xmlns="" id="{193D7BF3-5FB4-4C8A-9A09-9F8D216B0A2E}"/>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4046893917"/>
      </p:ext>
    </p:extLst>
  </p:cSld>
  <p:clrMapOvr>
    <a:masterClrMapping/>
  </p:clrMapOvr>
  <p:transition spd="slow" advClick="0" advTm="2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7DA495-E30F-446B-87F1-5F3BF5C578B7}"/>
              </a:ext>
            </a:extLst>
          </p:cNvPr>
          <p:cNvSpPr>
            <a:spLocks noGrp="1"/>
          </p:cNvSpPr>
          <p:nvPr>
            <p:ph type="title"/>
          </p:nvPr>
        </p:nvSpPr>
        <p:spPr>
          <a:xfrm>
            <a:off x="839788" y="365125"/>
            <a:ext cx="10515600" cy="1325563"/>
          </a:xfrm>
        </p:spPr>
        <p:txBody>
          <a:bodyPr/>
          <a:lstStyle/>
          <a:p>
            <a:r>
              <a:rPr lang="en-US"/>
              <a:t>Click to edit Master title style</a:t>
            </a:r>
            <a:endParaRPr lang="ar-JO"/>
          </a:p>
        </p:txBody>
      </p:sp>
      <p:sp>
        <p:nvSpPr>
          <p:cNvPr id="3" name="Text Placeholder 2">
            <a:extLst>
              <a:ext uri="{FF2B5EF4-FFF2-40B4-BE49-F238E27FC236}">
                <a16:creationId xmlns:a16="http://schemas.microsoft.com/office/drawing/2014/main" xmlns="" id="{D0DCF2C5-9BEC-4998-AFA4-AB0D7F11E8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92507A2-591F-4FD7-89F5-4845AF3FB4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Text Placeholder 4">
            <a:extLst>
              <a:ext uri="{FF2B5EF4-FFF2-40B4-BE49-F238E27FC236}">
                <a16:creationId xmlns:a16="http://schemas.microsoft.com/office/drawing/2014/main" xmlns="" id="{227BB0C6-76FF-4F94-9C2D-CF9335EA1A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81CA7BC-674F-4559-87C6-D6F114EAF9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7" name="Date Placeholder 6">
            <a:extLst>
              <a:ext uri="{FF2B5EF4-FFF2-40B4-BE49-F238E27FC236}">
                <a16:creationId xmlns:a16="http://schemas.microsoft.com/office/drawing/2014/main" xmlns="" id="{2936D0AB-6B92-42F8-A0AE-9A91FF1D8286}"/>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8" name="Footer Placeholder 7">
            <a:extLst>
              <a:ext uri="{FF2B5EF4-FFF2-40B4-BE49-F238E27FC236}">
                <a16:creationId xmlns:a16="http://schemas.microsoft.com/office/drawing/2014/main" xmlns="" id="{1A498BD1-B040-4F15-AB4B-C9F07CA166E2}"/>
              </a:ext>
            </a:extLst>
          </p:cNvPr>
          <p:cNvSpPr>
            <a:spLocks noGrp="1"/>
          </p:cNvSpPr>
          <p:nvPr>
            <p:ph type="ftr" sz="quarter" idx="11"/>
          </p:nvPr>
        </p:nvSpPr>
        <p:spPr/>
        <p:txBody>
          <a:bodyPr/>
          <a:lstStyle/>
          <a:p>
            <a:endParaRPr lang="ar-JO"/>
          </a:p>
        </p:txBody>
      </p:sp>
      <p:sp>
        <p:nvSpPr>
          <p:cNvPr id="9" name="Slide Number Placeholder 8">
            <a:extLst>
              <a:ext uri="{FF2B5EF4-FFF2-40B4-BE49-F238E27FC236}">
                <a16:creationId xmlns:a16="http://schemas.microsoft.com/office/drawing/2014/main" xmlns="" id="{EE923907-56B8-46A3-92FD-9C5A2E213510}"/>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559749511"/>
      </p:ext>
    </p:extLst>
  </p:cSld>
  <p:clrMapOvr>
    <a:masterClrMapping/>
  </p:clrMapOvr>
  <p:transition spd="slow" advClick="0" advTm="2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FD9D20-CF92-490F-A3DB-AC3926CBCC72}"/>
              </a:ext>
            </a:extLst>
          </p:cNvPr>
          <p:cNvSpPr>
            <a:spLocks noGrp="1"/>
          </p:cNvSpPr>
          <p:nvPr>
            <p:ph type="title"/>
          </p:nvPr>
        </p:nvSpPr>
        <p:spPr/>
        <p:txBody>
          <a:bodyPr/>
          <a:lstStyle/>
          <a:p>
            <a:r>
              <a:rPr lang="en-US"/>
              <a:t>Click to edit Master title style</a:t>
            </a:r>
            <a:endParaRPr lang="ar-JO"/>
          </a:p>
        </p:txBody>
      </p:sp>
      <p:sp>
        <p:nvSpPr>
          <p:cNvPr id="3" name="Date Placeholder 2">
            <a:extLst>
              <a:ext uri="{FF2B5EF4-FFF2-40B4-BE49-F238E27FC236}">
                <a16:creationId xmlns:a16="http://schemas.microsoft.com/office/drawing/2014/main" xmlns="" id="{4403CC9D-EEA3-422F-8FA8-D4500DD50661}"/>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4" name="Footer Placeholder 3">
            <a:extLst>
              <a:ext uri="{FF2B5EF4-FFF2-40B4-BE49-F238E27FC236}">
                <a16:creationId xmlns:a16="http://schemas.microsoft.com/office/drawing/2014/main" xmlns="" id="{47813055-8416-4B3B-AA7E-052280C4F2A0}"/>
              </a:ext>
            </a:extLst>
          </p:cNvPr>
          <p:cNvSpPr>
            <a:spLocks noGrp="1"/>
          </p:cNvSpPr>
          <p:nvPr>
            <p:ph type="ftr" sz="quarter" idx="11"/>
          </p:nvPr>
        </p:nvSpPr>
        <p:spPr/>
        <p:txBody>
          <a:bodyPr/>
          <a:lstStyle/>
          <a:p>
            <a:endParaRPr lang="ar-JO"/>
          </a:p>
        </p:txBody>
      </p:sp>
      <p:sp>
        <p:nvSpPr>
          <p:cNvPr id="5" name="Slide Number Placeholder 4">
            <a:extLst>
              <a:ext uri="{FF2B5EF4-FFF2-40B4-BE49-F238E27FC236}">
                <a16:creationId xmlns:a16="http://schemas.microsoft.com/office/drawing/2014/main" xmlns="" id="{D7A5EA42-E19D-4FAA-8F09-A31E4C828ACC}"/>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147566574"/>
      </p:ext>
    </p:extLst>
  </p:cSld>
  <p:clrMapOvr>
    <a:masterClrMapping/>
  </p:clrMapOvr>
  <p:transition spd="slow" advClick="0" advTm="2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B63F2D7-B6A3-42D8-B9CA-46A3C557F097}"/>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3" name="Footer Placeholder 2">
            <a:extLst>
              <a:ext uri="{FF2B5EF4-FFF2-40B4-BE49-F238E27FC236}">
                <a16:creationId xmlns:a16="http://schemas.microsoft.com/office/drawing/2014/main" xmlns="" id="{3E51F4DC-8717-412E-8987-C4EC246EC522}"/>
              </a:ext>
            </a:extLst>
          </p:cNvPr>
          <p:cNvSpPr>
            <a:spLocks noGrp="1"/>
          </p:cNvSpPr>
          <p:nvPr>
            <p:ph type="ftr" sz="quarter" idx="11"/>
          </p:nvPr>
        </p:nvSpPr>
        <p:spPr/>
        <p:txBody>
          <a:bodyPr/>
          <a:lstStyle/>
          <a:p>
            <a:endParaRPr lang="ar-JO"/>
          </a:p>
        </p:txBody>
      </p:sp>
      <p:sp>
        <p:nvSpPr>
          <p:cNvPr id="4" name="Slide Number Placeholder 3">
            <a:extLst>
              <a:ext uri="{FF2B5EF4-FFF2-40B4-BE49-F238E27FC236}">
                <a16:creationId xmlns:a16="http://schemas.microsoft.com/office/drawing/2014/main" xmlns="" id="{932C53FC-21D6-48DF-9B75-8E7547AB9B8F}"/>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3502234872"/>
      </p:ext>
    </p:extLst>
  </p:cSld>
  <p:clrMapOvr>
    <a:masterClrMapping/>
  </p:clrMapOvr>
  <p:transition spd="slow" advClick="0" advTm="2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329C58-B78A-4A8D-A825-BDEEFCC72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Content Placeholder 2">
            <a:extLst>
              <a:ext uri="{FF2B5EF4-FFF2-40B4-BE49-F238E27FC236}">
                <a16:creationId xmlns:a16="http://schemas.microsoft.com/office/drawing/2014/main" xmlns="" id="{8AE610AF-7581-44F7-80CC-346B8FBDA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Text Placeholder 3">
            <a:extLst>
              <a:ext uri="{FF2B5EF4-FFF2-40B4-BE49-F238E27FC236}">
                <a16:creationId xmlns:a16="http://schemas.microsoft.com/office/drawing/2014/main" xmlns="" id="{C00A8070-9184-44E1-AD20-24CBD2AD48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4C4740-4866-4384-8326-4898E32CD6AD}"/>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6" name="Footer Placeholder 5">
            <a:extLst>
              <a:ext uri="{FF2B5EF4-FFF2-40B4-BE49-F238E27FC236}">
                <a16:creationId xmlns:a16="http://schemas.microsoft.com/office/drawing/2014/main" xmlns="" id="{E847FA5D-6970-47DE-90F8-12E8382E17EF}"/>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xmlns="" id="{A3EA86EE-36ED-457A-9BAB-9A78881EDA3C}"/>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1919378179"/>
      </p:ext>
    </p:extLst>
  </p:cSld>
  <p:clrMapOvr>
    <a:masterClrMapping/>
  </p:clrMapOvr>
  <p:transition spd="slow" advClick="0" advTm="2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949975-5C35-4382-BEE7-E2CE3F4673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Picture Placeholder 2">
            <a:extLst>
              <a:ext uri="{FF2B5EF4-FFF2-40B4-BE49-F238E27FC236}">
                <a16:creationId xmlns:a16="http://schemas.microsoft.com/office/drawing/2014/main" xmlns="" id="{38714DAA-CE49-48BD-9792-1D95545B8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JO"/>
          </a:p>
        </p:txBody>
      </p:sp>
      <p:sp>
        <p:nvSpPr>
          <p:cNvPr id="4" name="Text Placeholder 3">
            <a:extLst>
              <a:ext uri="{FF2B5EF4-FFF2-40B4-BE49-F238E27FC236}">
                <a16:creationId xmlns:a16="http://schemas.microsoft.com/office/drawing/2014/main" xmlns="" id="{B28ACC71-C8AD-4877-883A-B219367386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BB35D7F-828F-4A33-9655-746E32D6849B}"/>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6" name="Footer Placeholder 5">
            <a:extLst>
              <a:ext uri="{FF2B5EF4-FFF2-40B4-BE49-F238E27FC236}">
                <a16:creationId xmlns:a16="http://schemas.microsoft.com/office/drawing/2014/main" xmlns="" id="{CBE25159-C20F-4B45-8DA2-1F788B4B954C}"/>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xmlns="" id="{9D25E564-AF4D-4439-9999-479C66CAFC65}"/>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3727310564"/>
      </p:ext>
    </p:extLst>
  </p:cSld>
  <p:clrMapOvr>
    <a:masterClrMapping/>
  </p:clrMapOvr>
  <p:transition spd="slow" advClick="0" advTm="2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00D35A-6671-4B2B-91D4-4AA2BD811501}"/>
              </a:ext>
            </a:extLst>
          </p:cNvPr>
          <p:cNvSpPr>
            <a:spLocks noGrp="1"/>
          </p:cNvSpPr>
          <p:nvPr>
            <p:ph type="title"/>
          </p:nvPr>
        </p:nvSpPr>
        <p:spPr/>
        <p:txBody>
          <a:bodyPr/>
          <a:lstStyle/>
          <a:p>
            <a:r>
              <a:rPr lang="en-US"/>
              <a:t>Click to edit Master title style</a:t>
            </a:r>
            <a:endParaRPr lang="ar-JO"/>
          </a:p>
        </p:txBody>
      </p:sp>
      <p:sp>
        <p:nvSpPr>
          <p:cNvPr id="3" name="Vertical Text Placeholder 2">
            <a:extLst>
              <a:ext uri="{FF2B5EF4-FFF2-40B4-BE49-F238E27FC236}">
                <a16:creationId xmlns:a16="http://schemas.microsoft.com/office/drawing/2014/main" xmlns="" id="{CE48B22C-0563-495F-9B78-1D6851492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xmlns="" id="{B4AD96A2-FAFD-4258-8E33-D671CA24F52A}"/>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F574EABB-15FB-4E0A-A3A7-CD9B07F2E646}"/>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xmlns="" id="{1D3A7749-F1AF-4966-9046-F30F9618478B}"/>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420429825"/>
      </p:ext>
    </p:extLst>
  </p:cSld>
  <p:clrMapOvr>
    <a:masterClrMapping/>
  </p:clrMapOvr>
  <p:transition spd="slow" advClick="0" advTm="2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9FCD76D-2C5F-4669-9133-E06681D620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JO"/>
          </a:p>
        </p:txBody>
      </p:sp>
      <p:sp>
        <p:nvSpPr>
          <p:cNvPr id="3" name="Vertical Text Placeholder 2">
            <a:extLst>
              <a:ext uri="{FF2B5EF4-FFF2-40B4-BE49-F238E27FC236}">
                <a16:creationId xmlns:a16="http://schemas.microsoft.com/office/drawing/2014/main" xmlns="" id="{E11772E2-2DAF-4EFB-8B5D-6B5ECE8BD4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xmlns="" id="{9C404590-1C04-47B0-8F62-1B22B218517E}"/>
              </a:ext>
            </a:extLst>
          </p:cNvPr>
          <p:cNvSpPr>
            <a:spLocks noGrp="1"/>
          </p:cNvSpPr>
          <p:nvPr>
            <p:ph type="dt" sz="half" idx="10"/>
          </p:nvPr>
        </p:nvSpPr>
        <p:spPr/>
        <p:txBody>
          <a:body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EAE8E66F-EEED-48A0-B945-E048F5E35925}"/>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xmlns="" id="{EE5CE22C-26B0-46B8-89D0-E05DF97FBE0F}"/>
              </a:ext>
            </a:extLst>
          </p:cNvPr>
          <p:cNvSpPr>
            <a:spLocks noGrp="1"/>
          </p:cNvSpPr>
          <p:nvPr>
            <p:ph type="sldNum" sz="quarter" idx="12"/>
          </p:nvPr>
        </p:nvSpPr>
        <p:spPr/>
        <p:txBody>
          <a:bodyPr/>
          <a:lstStyle/>
          <a:p>
            <a:fld id="{DC3DCB03-7704-4659-B26F-C6413334602C}" type="slidenum">
              <a:rPr lang="ar-JO" smtClean="0"/>
              <a:t>‹#›</a:t>
            </a:fld>
            <a:endParaRPr lang="ar-JO"/>
          </a:p>
        </p:txBody>
      </p:sp>
    </p:spTree>
    <p:extLst>
      <p:ext uri="{BB962C8B-B14F-4D97-AF65-F5344CB8AC3E}">
        <p14:creationId xmlns:p14="http://schemas.microsoft.com/office/powerpoint/2010/main" val="851212249"/>
      </p:ext>
    </p:extLst>
  </p:cSld>
  <p:clrMapOvr>
    <a:masterClrMapping/>
  </p:clrMapOvr>
  <p:transition spd="slow" advClick="0" advTm="2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F4C4FD3-35A3-4AF3-919E-EE898DF235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JO"/>
          </a:p>
        </p:txBody>
      </p:sp>
      <p:sp>
        <p:nvSpPr>
          <p:cNvPr id="3" name="Text Placeholder 2">
            <a:extLst>
              <a:ext uri="{FF2B5EF4-FFF2-40B4-BE49-F238E27FC236}">
                <a16:creationId xmlns:a16="http://schemas.microsoft.com/office/drawing/2014/main" xmlns="" id="{1BCAC476-C397-427E-8276-0E4D85B311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xmlns="" id="{952D8093-7ED9-436C-A501-C3E5A72171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6EBF71-AF45-45D2-9E8A-A247640AAEB9}" type="datetimeFigureOut">
              <a:rPr lang="ar-JO" smtClean="0"/>
              <a:t>25/03/1447</a:t>
            </a:fld>
            <a:endParaRPr lang="ar-JO"/>
          </a:p>
        </p:txBody>
      </p:sp>
      <p:sp>
        <p:nvSpPr>
          <p:cNvPr id="5" name="Footer Placeholder 4">
            <a:extLst>
              <a:ext uri="{FF2B5EF4-FFF2-40B4-BE49-F238E27FC236}">
                <a16:creationId xmlns:a16="http://schemas.microsoft.com/office/drawing/2014/main" xmlns="" id="{1898580D-5B03-47BD-9128-4D7DD03993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JO"/>
          </a:p>
        </p:txBody>
      </p:sp>
      <p:sp>
        <p:nvSpPr>
          <p:cNvPr id="6" name="Slide Number Placeholder 5">
            <a:extLst>
              <a:ext uri="{FF2B5EF4-FFF2-40B4-BE49-F238E27FC236}">
                <a16:creationId xmlns:a16="http://schemas.microsoft.com/office/drawing/2014/main" xmlns="" id="{249FB47D-E449-4DB3-BC26-C2CA3690DB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3DCB03-7704-4659-B26F-C6413334602C}" type="slidenum">
              <a:rPr lang="ar-JO" smtClean="0"/>
              <a:t>‹#›</a:t>
            </a:fld>
            <a:endParaRPr lang="ar-JO"/>
          </a:p>
        </p:txBody>
      </p:sp>
    </p:spTree>
    <p:extLst>
      <p:ext uri="{BB962C8B-B14F-4D97-AF65-F5344CB8AC3E}">
        <p14:creationId xmlns:p14="http://schemas.microsoft.com/office/powerpoint/2010/main" val="2232410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advTm="2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7/06/relationships/model3d" Target="../media/model3d1.glb"/><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7/06/relationships/model3d" Target="../media/model3d1.glb"/><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7/06/relationships/model3d" Target="../media/model3d1.glb"/><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9.png"/><Relationship Id="rId10" Type="http://schemas.openxmlformats.org/officeDocument/2006/relationships/image" Target="../media/image10.png"/><Relationship Id="rId4" Type="http://schemas.microsoft.com/office/2017/06/relationships/model3d" Target="../media/model3d1.glb"/><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2.png"/><Relationship Id="rId12" Type="http://schemas.microsoft.com/office/2007/relationships/hdphoto" Target="../media/hdphoto2.wdp"/><Relationship Id="rId2" Type="http://schemas.microsoft.com/office/2017/06/relationships/model3d" Target="../media/model3d1.glb"/><Relationship Id="rId1" Type="http://schemas.openxmlformats.org/officeDocument/2006/relationships/slideLayout" Target="../slideLayouts/slideLayout7.xml"/><Relationship Id="rId6" Type="http://schemas.microsoft.com/office/2017/06/relationships/model3d" Target="../media/model3d2.glb"/><Relationship Id="rId11" Type="http://schemas.openxmlformats.org/officeDocument/2006/relationships/image" Target="../media/image14.png"/><Relationship Id="rId5" Type="http://schemas.openxmlformats.org/officeDocument/2006/relationships/image" Target="../media/image3.png"/><Relationship Id="rId10" Type="http://schemas.microsoft.com/office/2007/relationships/hdphoto" Target="../media/hdphoto1.wdp"/><Relationship Id="rId4" Type="http://schemas.openxmlformats.org/officeDocument/2006/relationships/image" Target="../media/image11.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6.png"/><Relationship Id="rId12" Type="http://schemas.openxmlformats.org/officeDocument/2006/relationships/image" Target="../media/image18.png"/><Relationship Id="rId2" Type="http://schemas.microsoft.com/office/2017/06/relationships/model3d" Target="../media/model3d1.glb"/><Relationship Id="rId1" Type="http://schemas.openxmlformats.org/officeDocument/2006/relationships/slideLayout" Target="../slideLayouts/slideLayout7.xml"/><Relationship Id="rId6" Type="http://schemas.microsoft.com/office/2017/06/relationships/model3d" Target="../media/model3d2.glb"/><Relationship Id="rId11" Type="http://schemas.openxmlformats.org/officeDocument/2006/relationships/image" Target="../media/image17.png"/><Relationship Id="rId5" Type="http://schemas.openxmlformats.org/officeDocument/2006/relationships/image" Target="../media/image3.png"/><Relationship Id="rId10" Type="http://schemas.microsoft.com/office/2007/relationships/hdphoto" Target="../media/hdphoto2.wdp"/><Relationship Id="rId4" Type="http://schemas.openxmlformats.org/officeDocument/2006/relationships/image" Target="../media/image15.png"/><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17/06/relationships/model3d" Target="../media/model3d1.glb"/><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20.pn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2366704438"/>
                  </p:ext>
                </p:extLst>
              </p:nvPr>
            </p:nvGraphicFramePr>
            <p:xfrm>
              <a:off x="5250338" y="1698172"/>
              <a:ext cx="7465229" cy="4071944"/>
            </p:xfrm>
            <a:graphic>
              <a:graphicData uri="http://schemas.microsoft.com/office/drawing/2017/model3d">
                <am3d:model3d r:embed="rId2">
                  <am3d:spPr>
                    <a:xfrm>
                      <a:off x="0" y="0"/>
                      <a:ext cx="7465229" cy="4071944"/>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810584" ay="-1821844" az="-415500"/>
                    <am3d:postTrans dx="0" dy="0" dz="0"/>
                  </am3d:trans>
                  <am3d:raster rName="Office3DRenderer" rVer="16.0.8326">
                    <am3d:blip r:embed="rId3"/>
                  </am3d:raster>
                  <am3d:objViewport viewportSz="84013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4"/>
              <a:stretch>
                <a:fillRect/>
              </a:stretch>
            </p:blipFill>
            <p:spPr>
              <a:xfrm>
                <a:off x="5250338" y="1698172"/>
                <a:ext cx="7465229" cy="4071944"/>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1616675" y="-507932"/>
            <a:ext cx="8958649" cy="8958649"/>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521110" y="7057036"/>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
        <p:nvSpPr>
          <p:cNvPr id="3" name="TextBox 2">
            <a:extLst>
              <a:ext uri="{FF2B5EF4-FFF2-40B4-BE49-F238E27FC236}">
                <a16:creationId xmlns:a16="http://schemas.microsoft.com/office/drawing/2014/main" xmlns="" id="{087DF6C6-1655-43C8-A7A8-4A979B70EF83}"/>
              </a:ext>
            </a:extLst>
          </p:cNvPr>
          <p:cNvSpPr txBox="1"/>
          <p:nvPr/>
        </p:nvSpPr>
        <p:spPr>
          <a:xfrm>
            <a:off x="521110" y="-275303"/>
            <a:ext cx="3864077" cy="1862048"/>
          </a:xfrm>
          <a:prstGeom prst="rect">
            <a:avLst/>
          </a:prstGeom>
          <a:noFill/>
        </p:spPr>
        <p:txBody>
          <a:bodyPr wrap="square" rtlCol="1">
            <a:spAutoFit/>
          </a:bodyPr>
          <a:lstStyle/>
          <a:p>
            <a:r>
              <a:rPr lang="en-US" sz="11500" b="1" dirty="0">
                <a:latin typeface="Aldhabi" panose="01000000000000000000" pitchFamily="2" charset="-78"/>
                <a:cs typeface="Aldhabi" panose="01000000000000000000" pitchFamily="2" charset="-78"/>
              </a:rPr>
              <a:t>Concept</a:t>
            </a:r>
            <a:endParaRPr lang="ar-JO" sz="11500" b="1" dirty="0">
              <a:latin typeface="Aldhabi" panose="01000000000000000000" pitchFamily="2" charset="-78"/>
              <a:cs typeface="Aldhabi" panose="01000000000000000000" pitchFamily="2" charset="-78"/>
            </a:endParaRPr>
          </a:p>
        </p:txBody>
      </p:sp>
      <p:sp>
        <p:nvSpPr>
          <p:cNvPr id="4" name="TextBox 3">
            <a:extLst>
              <a:ext uri="{FF2B5EF4-FFF2-40B4-BE49-F238E27FC236}">
                <a16:creationId xmlns:a16="http://schemas.microsoft.com/office/drawing/2014/main" xmlns="" id="{96428190-83BF-4721-967B-ADF9CBA7B3E3}"/>
              </a:ext>
            </a:extLst>
          </p:cNvPr>
          <p:cNvSpPr txBox="1"/>
          <p:nvPr/>
        </p:nvSpPr>
        <p:spPr>
          <a:xfrm>
            <a:off x="755489" y="1586745"/>
            <a:ext cx="4699819" cy="3539430"/>
          </a:xfrm>
          <a:prstGeom prst="rect">
            <a:avLst/>
          </a:prstGeom>
          <a:noFill/>
        </p:spPr>
        <p:txBody>
          <a:bodyPr wrap="square" rtlCol="1">
            <a:spAutoFit/>
          </a:bodyPr>
          <a:lstStyle/>
          <a:p>
            <a:r>
              <a:rPr lang="en-US" sz="3200" dirty="0">
                <a:latin typeface="Aldhabi" panose="01000000000000000000" pitchFamily="2" charset="-78"/>
                <a:cs typeface="Aldhabi" panose="01000000000000000000" pitchFamily="2" charset="-78"/>
              </a:rPr>
              <a:t>built for people who have lost their ability to speak or move due to war injuries, neurological trauma, or complete paralysis. The glasses restore communication using only eye movements, enabling natural interaction without any physical effort or touch.</a:t>
            </a:r>
            <a:endParaRPr lang="ar-JO" sz="3200" dirty="0">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3343545461"/>
      </p:ext>
    </p:extLst>
  </p:cSld>
  <p:clrMapOvr>
    <a:masterClrMapping/>
  </p:clrMapOvr>
  <p:transition spd="slow" advClick="0" advTm="2000">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2314423208"/>
                  </p:ext>
                </p:extLst>
              </p:nvPr>
            </p:nvGraphicFramePr>
            <p:xfrm>
              <a:off x="-246803" y="280814"/>
              <a:ext cx="6258765" cy="3690579"/>
            </p:xfrm>
            <a:graphic>
              <a:graphicData uri="http://schemas.microsoft.com/office/drawing/2017/model3d">
                <am3d:model3d r:embed="rId2">
                  <am3d:spPr>
                    <a:xfrm>
                      <a:off x="0" y="0"/>
                      <a:ext cx="6258765" cy="3690579"/>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1109420" ay="1258046" az="409407"/>
                    <am3d:postTrans dx="0" dy="0" dz="0"/>
                  </am3d:trans>
                  <am3d:raster rName="Office3DRenderer" rVer="16.0.8326">
                    <am3d:blip r:embed="rId3"/>
                  </am3d:raster>
                  <am3d:objViewport viewportSz="682947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4"/>
              <a:stretch>
                <a:fillRect/>
              </a:stretch>
            </p:blipFill>
            <p:spPr>
              <a:xfrm>
                <a:off x="-246803" y="280814"/>
                <a:ext cx="6258765" cy="3690579"/>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12940" y="4713758"/>
            <a:ext cx="3279060" cy="3279060"/>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1268362" y="3851720"/>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2419759053"/>
      </p:ext>
    </p:extLst>
  </p:cSld>
  <p:clrMapOvr>
    <a:masterClrMapping/>
  </p:clrMapOvr>
  <p:transition spd="slow" advClick="0" advTm="2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mph" presetSubtype="4" repeatCount="2000" fill="hold" nodeType="withEffect">
                                  <p:stCondLst>
                                    <p:cond delay="0"/>
                                  </p:stCondLst>
                                  <p:childTnLst>
                                    <p:anim calcmode="lin" valueType="num">
                                      <p:cBhvr additive="sum">
                                        <p:cTn id="6" dur="2000" fill="hold"/>
                                        <p:tgtEl>
                                          <p:spTgt spid="2"/>
                                        </p:tgtEl>
                                        <p:attrNameLst>
                                          <p:attrName>3d.object.rotation.y</p:attrName>
                                        </p:attrNameLst>
                                      </p:cBhvr>
                                      <p:tavLst>
                                        <p:tav tm="0">
                                          <p:val>
                                            <p:fltVal val="0"/>
                                          </p:val>
                                        </p:tav>
                                        <p:tav tm="3330">
                                          <p:val>
                                            <p:fltVal val="-3.4873"/>
                                          </p:val>
                                        </p:tav>
                                        <p:tav tm="6660">
                                          <p:val>
                                            <p:fltVal val="-6.0519"/>
                                          </p:val>
                                        </p:tav>
                                        <p:tav tm="9990">
                                          <p:val>
                                            <p:fltVal val="-7.8356"/>
                                          </p:val>
                                        </p:tav>
                                        <p:tav tm="13320">
                                          <p:val>
                                            <p:fltVal val="-8.9802"/>
                                          </p:val>
                                        </p:tav>
                                        <p:tav tm="16650">
                                          <p:val>
                                            <p:fltVal val="-9.6274"/>
                                          </p:val>
                                        </p:tav>
                                        <p:tav tm="19970">
                                          <p:val>
                                            <p:fltVal val="-9.9185"/>
                                          </p:val>
                                        </p:tav>
                                        <p:tav tm="23290">
                                          <p:val>
                                            <p:fltVal val="-9.9968"/>
                                          </p:val>
                                        </p:tav>
                                        <p:tav tm="26620">
                                          <p:val>
                                            <p:fltVal val="-9.9972"/>
                                          </p:val>
                                        </p:tav>
                                        <p:tav tm="29950">
                                          <p:val>
                                            <p:fltVal val="-9.9223"/>
                                          </p:val>
                                        </p:tav>
                                        <p:tav tm="33280">
                                          <p:val>
                                            <p:fltVal val="-9.6366"/>
                                          </p:val>
                                        </p:tav>
                                        <p:tav tm="36610">
                                          <p:val>
                                            <p:fltVal val="-8.9984"/>
                                          </p:val>
                                        </p:tav>
                                        <p:tav tm="39940">
                                          <p:val>
                                            <p:fltVal val="-7.8658"/>
                                          </p:val>
                                        </p:tav>
                                        <p:tav tm="43270">
                                          <p:val>
                                            <p:fltVal val="-6.097"/>
                                          </p:val>
                                        </p:tav>
                                        <p:tav tm="46600">
                                          <p:val>
                                            <p:fltVal val="-3.5502"/>
                                          </p:val>
                                        </p:tav>
                                        <p:tav tm="49930">
                                          <p:val>
                                            <p:fltVal val="-0.0837"/>
                                          </p:val>
                                        </p:tav>
                                        <p:tav tm="53250">
                                          <p:val>
                                            <p:fltVal val="3.4149"/>
                                          </p:val>
                                        </p:tav>
                                        <p:tav tm="56580">
                                          <p:val>
                                            <p:fltVal val="6.0001"/>
                                          </p:val>
                                        </p:tav>
                                        <p:tav tm="59900">
                                          <p:val>
                                            <p:fltVal val="7.7965"/>
                                          </p:val>
                                        </p:tav>
                                        <p:tav tm="63220">
                                          <p:val>
                                            <p:fltVal val="8.9537"/>
                                          </p:val>
                                        </p:tav>
                                        <p:tav tm="66540">
                                          <p:val>
                                            <p:fltVal val="9.6124"/>
                                          </p:val>
                                        </p:tav>
                                        <p:tav tm="69870">
                                          <p:val>
                                            <p:fltVal val="9.9135"/>
                                          </p:val>
                                        </p:tav>
                                        <p:tav tm="73190">
                                          <p:val>
                                            <p:fltVal val="9.9962"/>
                                          </p:val>
                                        </p:tav>
                                        <p:tav tm="76510">
                                          <p:val>
                                            <p:fltVal val="9.9977"/>
                                          </p:val>
                                        </p:tav>
                                        <p:tav tm="79830">
                                          <p:val>
                                            <p:fltVal val="9.9278"/>
                                          </p:val>
                                        </p:tav>
                                        <p:tav tm="83160">
                                          <p:val>
                                            <p:fltVal val="9.6522"/>
                                          </p:val>
                                        </p:tav>
                                        <p:tav tm="86480">
                                          <p:val>
                                            <p:fltVal val="9.0317"/>
                                          </p:val>
                                        </p:tav>
                                        <p:tav tm="89800">
                                          <p:val>
                                            <p:fltVal val="7.9252"/>
                                          </p:val>
                                        </p:tav>
                                        <p:tav tm="93120">
                                          <p:val>
                                            <p:fltVal val="6.1923"/>
                                          </p:val>
                                        </p:tav>
                                        <p:tav tm="96450">
                                          <p:val>
                                            <p:fltVal val="3.6837"/>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544021170"/>
                  </p:ext>
                </p:extLst>
              </p:nvPr>
            </p:nvGraphicFramePr>
            <p:xfrm>
              <a:off x="335216" y="609114"/>
              <a:ext cx="4684859" cy="2666179"/>
            </p:xfrm>
            <a:graphic>
              <a:graphicData uri="http://schemas.microsoft.com/office/drawing/2017/model3d">
                <am3d:model3d r:embed="rId2">
                  <am3d:spPr>
                    <a:xfrm>
                      <a:off x="0" y="0"/>
                      <a:ext cx="4684859" cy="2666179"/>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918753" ay="1922294" az="495851"/>
                    <am3d:postTrans dx="0" dy="0" dz="0"/>
                  </am3d:trans>
                  <am3d:raster rName="Office3DRenderer" rVer="16.0.8326">
                    <am3d:blip r:embed="rId3"/>
                  </am3d:raster>
                  <am3d:objViewport viewportSz="525618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4"/>
              <a:stretch>
                <a:fillRect/>
              </a:stretch>
            </p:blipFill>
            <p:spPr>
              <a:xfrm>
                <a:off x="335216" y="609114"/>
                <a:ext cx="4684859" cy="2666179"/>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1616674" y="-507932"/>
            <a:ext cx="8958649" cy="8958649"/>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521110" y="7057036"/>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
        <p:nvSpPr>
          <p:cNvPr id="3" name="TextBox 2">
            <a:extLst>
              <a:ext uri="{FF2B5EF4-FFF2-40B4-BE49-F238E27FC236}">
                <a16:creationId xmlns:a16="http://schemas.microsoft.com/office/drawing/2014/main" xmlns="" id="{087DF6C6-1655-43C8-A7A8-4A979B70EF83}"/>
              </a:ext>
            </a:extLst>
          </p:cNvPr>
          <p:cNvSpPr txBox="1"/>
          <p:nvPr/>
        </p:nvSpPr>
        <p:spPr>
          <a:xfrm>
            <a:off x="687848" y="4392340"/>
            <a:ext cx="5930490" cy="1862048"/>
          </a:xfrm>
          <a:prstGeom prst="rect">
            <a:avLst/>
          </a:prstGeom>
          <a:noFill/>
        </p:spPr>
        <p:txBody>
          <a:bodyPr wrap="square" rtlCol="1">
            <a:spAutoFit/>
          </a:bodyPr>
          <a:lstStyle/>
          <a:p>
            <a:r>
              <a:rPr lang="en-US" sz="11500" b="1" dirty="0">
                <a:latin typeface="Aldhabi" panose="01000000000000000000" pitchFamily="2" charset="-78"/>
                <a:cs typeface="Aldhabi" panose="01000000000000000000" pitchFamily="2" charset="-78"/>
              </a:rPr>
              <a:t>How it works?</a:t>
            </a:r>
            <a:endParaRPr lang="ar-JO" sz="11500" b="1" dirty="0">
              <a:latin typeface="Aldhabi" panose="01000000000000000000" pitchFamily="2" charset="-78"/>
              <a:cs typeface="Aldhabi" panose="01000000000000000000" pitchFamily="2" charset="-78"/>
            </a:endParaRPr>
          </a:p>
        </p:txBody>
      </p:sp>
      <p:sp>
        <p:nvSpPr>
          <p:cNvPr id="4" name="TextBox 3">
            <a:extLst>
              <a:ext uri="{FF2B5EF4-FFF2-40B4-BE49-F238E27FC236}">
                <a16:creationId xmlns:a16="http://schemas.microsoft.com/office/drawing/2014/main" xmlns="" id="{96428190-83BF-4721-967B-ADF9CBA7B3E3}"/>
              </a:ext>
            </a:extLst>
          </p:cNvPr>
          <p:cNvSpPr txBox="1"/>
          <p:nvPr/>
        </p:nvSpPr>
        <p:spPr>
          <a:xfrm>
            <a:off x="6095999" y="1093848"/>
            <a:ext cx="4699819" cy="3539430"/>
          </a:xfrm>
          <a:prstGeom prst="rect">
            <a:avLst/>
          </a:prstGeom>
          <a:noFill/>
        </p:spPr>
        <p:txBody>
          <a:bodyPr wrap="square" rtlCol="1">
            <a:spAutoFit/>
          </a:bodyPr>
          <a:lstStyle/>
          <a:p>
            <a:pPr algn="ctr"/>
            <a:r>
              <a:rPr lang="en-US" sz="3200" dirty="0">
                <a:latin typeface="Aldhabi" panose="01000000000000000000" pitchFamily="2" charset="-78"/>
                <a:cs typeface="Aldhabi" panose="01000000000000000000" pitchFamily="2" charset="-78"/>
              </a:rPr>
              <a:t>The glasses track eye movements with precision. When a user fixes their gaze on a phrase or symbol displayed inside the lens, </a:t>
            </a:r>
            <a:r>
              <a:rPr lang="en-US" sz="3200" dirty="0" err="1">
                <a:latin typeface="Aldhabi" panose="01000000000000000000" pitchFamily="2" charset="-78"/>
                <a:cs typeface="Aldhabi" panose="01000000000000000000" pitchFamily="2" charset="-78"/>
              </a:rPr>
              <a:t>Eyecan</a:t>
            </a:r>
            <a:r>
              <a:rPr lang="en-US" sz="3200" dirty="0">
                <a:latin typeface="Aldhabi" panose="01000000000000000000" pitchFamily="2" charset="-78"/>
                <a:cs typeface="Aldhabi" panose="01000000000000000000" pitchFamily="2" charset="-78"/>
              </a:rPr>
              <a:t> instantly converts it into speech. The output voice is natural and human-like, making the communication feel authentic and personal.</a:t>
            </a:r>
            <a:endParaRPr lang="ar-JO" sz="3200" dirty="0">
              <a:latin typeface="Aldhabi" panose="01000000000000000000" pitchFamily="2" charset="-78"/>
              <a:cs typeface="Aldhabi" panose="01000000000000000000" pitchFamily="2" charset="-78"/>
            </a:endParaRPr>
          </a:p>
        </p:txBody>
      </p:sp>
      <p:sp>
        <p:nvSpPr>
          <p:cNvPr id="11" name="Arrow: Right 10">
            <a:extLst>
              <a:ext uri="{FF2B5EF4-FFF2-40B4-BE49-F238E27FC236}">
                <a16:creationId xmlns:a16="http://schemas.microsoft.com/office/drawing/2014/main" xmlns="" id="{3364B380-C301-4EBE-A38A-E3E9DE454CFE}"/>
              </a:ext>
            </a:extLst>
          </p:cNvPr>
          <p:cNvSpPr/>
          <p:nvPr/>
        </p:nvSpPr>
        <p:spPr>
          <a:xfrm rot="17812471" flipV="1">
            <a:off x="6136047" y="4761120"/>
            <a:ext cx="731520" cy="32504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Tree>
    <p:extLst>
      <p:ext uri="{BB962C8B-B14F-4D97-AF65-F5344CB8AC3E}">
        <p14:creationId xmlns:p14="http://schemas.microsoft.com/office/powerpoint/2010/main" val="288117123"/>
      </p:ext>
    </p:extLst>
  </p:cSld>
  <p:clrMapOvr>
    <a:masterClrMapping/>
  </p:clrMapOvr>
  <p:transition spd="slow" advClick="0" advTm="2000">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F6E7455-B749-4E54-9AAC-836B8BA6CCE0}"/>
              </a:ext>
            </a:extLst>
          </p:cNvPr>
          <p:cNvPicPr>
            <a:picLocks noChangeAspect="1"/>
          </p:cNvPicPr>
          <p:nvPr/>
        </p:nvPicPr>
        <p:blipFill rotWithShape="1">
          <a:blip r:embed="rId2" cstate="print">
            <a:duotone>
              <a:prstClr val="black"/>
              <a:srgbClr val="A5A5A5">
                <a:tint val="45000"/>
                <a:satMod val="400000"/>
              </a:srgbClr>
            </a:duotone>
            <a:extLst>
              <a:ext uri="{28A0092B-C50C-407E-A947-70E740481C1C}">
                <a14:useLocalDpi xmlns:a14="http://schemas.microsoft.com/office/drawing/2010/main" val="0"/>
              </a:ext>
            </a:extLst>
          </a:blip>
          <a:srcRect/>
          <a:stretch/>
        </p:blipFill>
        <p:spPr>
          <a:xfrm>
            <a:off x="3188875" y="2290297"/>
            <a:ext cx="1593481" cy="2016055"/>
          </a:xfrm>
          <a:prstGeom prst="rect">
            <a:avLst/>
          </a:prstGeom>
        </p:spPr>
      </p:pic>
      <p:pic>
        <p:nvPicPr>
          <p:cNvPr id="11" name="Picture 10">
            <a:extLst>
              <a:ext uri="{FF2B5EF4-FFF2-40B4-BE49-F238E27FC236}">
                <a16:creationId xmlns:a16="http://schemas.microsoft.com/office/drawing/2014/main" xmlns="" id="{505FD267-9DD5-436B-AC45-DBA4D5BF4142}"/>
              </a:ext>
            </a:extLst>
          </p:cNvPr>
          <p:cNvPicPr>
            <a:picLocks noChangeAspect="1"/>
          </p:cNvPicPr>
          <p:nvPr/>
        </p:nvPicPr>
        <p:blipFill>
          <a:blip r:embed="rId3" cstate="print">
            <a:duotone>
              <a:prstClr val="black"/>
              <a:srgbClr val="A5A5A5">
                <a:tint val="45000"/>
                <a:satMod val="400000"/>
              </a:srgbClr>
            </a:duotone>
            <a:extLst>
              <a:ext uri="{28A0092B-C50C-407E-A947-70E740481C1C}">
                <a14:useLocalDpi xmlns:a14="http://schemas.microsoft.com/office/drawing/2010/main" val="0"/>
              </a:ext>
            </a:extLst>
          </a:blip>
          <a:stretch>
            <a:fillRect/>
          </a:stretch>
        </p:blipFill>
        <p:spPr>
          <a:xfrm>
            <a:off x="377671" y="2399516"/>
            <a:ext cx="2203802" cy="1948469"/>
          </a:xfrm>
          <a:prstGeom prst="rect">
            <a:avLst/>
          </a:prstGeom>
        </p:spPr>
      </p:pic>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3157320432"/>
                  </p:ext>
                </p:extLst>
              </p:nvPr>
            </p:nvGraphicFramePr>
            <p:xfrm>
              <a:off x="273689" y="1138634"/>
              <a:ext cx="4551547" cy="2951841"/>
            </p:xfrm>
            <a:graphic>
              <a:graphicData uri="http://schemas.microsoft.com/office/drawing/2017/model3d">
                <am3d:model3d r:embed="rId4">
                  <am3d:spPr>
                    <a:xfrm>
                      <a:off x="0" y="0"/>
                      <a:ext cx="4551547" cy="2951841"/>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1529086" ay="142842" az="68035"/>
                    <am3d:postTrans dx="0" dy="0" dz="0"/>
                  </am3d:trans>
                  <am3d:raster rName="Office3DRenderer" rVer="16.0.8326">
                    <am3d:blip r:embed="rId5"/>
                  </am3d:raster>
                  <am3d:objViewport viewportSz="52561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6"/>
              <a:stretch>
                <a:fillRect/>
              </a:stretch>
            </p:blipFill>
            <p:spPr>
              <a:xfrm>
                <a:off x="273689" y="1138634"/>
                <a:ext cx="4551547" cy="2951841"/>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7">
            <a:alphaModFix amt="5000"/>
            <a:extLst>
              <a:ext uri="{28A0092B-C50C-407E-A947-70E740481C1C}">
                <a14:useLocalDpi xmlns:a14="http://schemas.microsoft.com/office/drawing/2010/main" val="0"/>
              </a:ext>
            </a:extLst>
          </a:blip>
          <a:stretch>
            <a:fillRect/>
          </a:stretch>
        </p:blipFill>
        <p:spPr>
          <a:xfrm>
            <a:off x="1616675" y="-507932"/>
            <a:ext cx="8958649" cy="8958649"/>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521110" y="7057036"/>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
        <p:nvSpPr>
          <p:cNvPr id="3" name="TextBox 2">
            <a:extLst>
              <a:ext uri="{FF2B5EF4-FFF2-40B4-BE49-F238E27FC236}">
                <a16:creationId xmlns:a16="http://schemas.microsoft.com/office/drawing/2014/main" xmlns="" id="{087DF6C6-1655-43C8-A7A8-4A979B70EF83}"/>
              </a:ext>
            </a:extLst>
          </p:cNvPr>
          <p:cNvSpPr txBox="1"/>
          <p:nvPr/>
        </p:nvSpPr>
        <p:spPr>
          <a:xfrm>
            <a:off x="5455308" y="481480"/>
            <a:ext cx="5930490" cy="1862048"/>
          </a:xfrm>
          <a:prstGeom prst="rect">
            <a:avLst/>
          </a:prstGeom>
          <a:noFill/>
        </p:spPr>
        <p:txBody>
          <a:bodyPr wrap="square" rtlCol="1">
            <a:spAutoFit/>
          </a:bodyPr>
          <a:lstStyle/>
          <a:p>
            <a:r>
              <a:rPr lang="en-US" sz="11500" b="1" dirty="0">
                <a:latin typeface="Aldhabi" panose="01000000000000000000" pitchFamily="2" charset="-78"/>
                <a:cs typeface="Aldhabi" panose="01000000000000000000" pitchFamily="2" charset="-78"/>
              </a:rPr>
              <a:t>User Interface</a:t>
            </a:r>
            <a:endParaRPr lang="ar-JO" sz="11500" b="1" dirty="0">
              <a:latin typeface="Aldhabi" panose="01000000000000000000" pitchFamily="2" charset="-78"/>
              <a:cs typeface="Aldhabi" panose="01000000000000000000" pitchFamily="2" charset="-78"/>
            </a:endParaRPr>
          </a:p>
        </p:txBody>
      </p:sp>
      <p:sp>
        <p:nvSpPr>
          <p:cNvPr id="4" name="TextBox 3">
            <a:extLst>
              <a:ext uri="{FF2B5EF4-FFF2-40B4-BE49-F238E27FC236}">
                <a16:creationId xmlns:a16="http://schemas.microsoft.com/office/drawing/2014/main" xmlns="" id="{96428190-83BF-4721-967B-ADF9CBA7B3E3}"/>
              </a:ext>
            </a:extLst>
          </p:cNvPr>
          <p:cNvSpPr txBox="1"/>
          <p:nvPr/>
        </p:nvSpPr>
        <p:spPr>
          <a:xfrm>
            <a:off x="5875505" y="2343528"/>
            <a:ext cx="4699819" cy="4031873"/>
          </a:xfrm>
          <a:prstGeom prst="rect">
            <a:avLst/>
          </a:prstGeom>
          <a:noFill/>
        </p:spPr>
        <p:txBody>
          <a:bodyPr wrap="square" rtlCol="1">
            <a:spAutoFit/>
          </a:bodyPr>
          <a:lstStyle/>
          <a:p>
            <a:pPr algn="ctr"/>
            <a:r>
              <a:rPr lang="en-US" sz="3200" dirty="0">
                <a:latin typeface="Aldhabi" panose="01000000000000000000" pitchFamily="2" charset="-78"/>
                <a:cs typeface="Aldhabi" panose="01000000000000000000" pitchFamily="2" charset="-78"/>
              </a:rPr>
              <a:t>Inside the transparent lens, a digital interface displays a set of icons, phrases, and symbols. The user interacts by simply looking at the desired element. This eye-controlled selection replaces physical gestures, keyboards, or touch, ensuring accessibility even for those with full-body paralysis.</a:t>
            </a:r>
          </a:p>
        </p:txBody>
      </p:sp>
      <mc:AlternateContent xmlns:mc="http://schemas.openxmlformats.org/markup-compatibility/2006">
        <mc:Choice xmlns:am3d="http://schemas.microsoft.com/office/drawing/2017/model3d" xmlns="" Requires="am3d">
          <p:graphicFrame>
            <p:nvGraphicFramePr>
              <p:cNvPr id="13" name="3D Model 12">
                <a:extLst>
                  <a:ext uri="{FF2B5EF4-FFF2-40B4-BE49-F238E27FC236}">
                    <a16:creationId xmlns:a16="http://schemas.microsoft.com/office/drawing/2014/main" id="{94F86C71-E13E-48EE-80AF-36FAF349D11C}"/>
                  </a:ext>
                </a:extLst>
              </p:cNvPr>
              <p:cNvGraphicFramePr>
                <a:graphicFrameLocks noChangeAspect="1"/>
              </p:cNvGraphicFramePr>
              <p:nvPr>
                <p:extLst>
                  <p:ext uri="{D42A27DB-BD31-4B8C-83A1-F6EECF244321}">
                    <p14:modId xmlns:p14="http://schemas.microsoft.com/office/powerpoint/2010/main" val="2719767501"/>
                  </p:ext>
                </p:extLst>
              </p:nvPr>
            </p:nvGraphicFramePr>
            <p:xfrm>
              <a:off x="-3606303" y="4847350"/>
              <a:ext cx="4697844" cy="3603367"/>
            </p:xfrm>
            <a:graphic>
              <a:graphicData uri="http://schemas.microsoft.com/office/drawing/2017/model3d">
                <am3d:model3d r:embed="rId8">
                  <am3d:spPr>
                    <a:xfrm>
                      <a:off x="0" y="0"/>
                      <a:ext cx="4697844" cy="3603367"/>
                    </a:xfrm>
                    <a:prstGeom prst="rect">
                      <a:avLst/>
                    </a:prstGeom>
                  </am3d:spPr>
                  <am3d:camera>
                    <am3d:pos x="0" y="0" z="70616533"/>
                    <am3d:up dx="0" dy="36000000" dz="0"/>
                    <am3d:lookAt x="0" y="0" z="0"/>
                    <am3d:perspective fov="2700000"/>
                  </am3d:camera>
                  <am3d:trans>
                    <am3d:meterPerModelUnit n="26928" d="1000000"/>
                    <am3d:preTrans dx="197213" dy="-602254" dz="-1115515"/>
                    <am3d:scale>
                      <am3d:sx n="1000000" d="1000000"/>
                      <am3d:sy n="1000000" d="1000000"/>
                      <am3d:sz n="1000000" d="1000000"/>
                    </am3d:scale>
                    <am3d:rot ax="10032911" ay="4378058" az="10065527"/>
                    <am3d:postTrans dx="0" dy="0" dz="0"/>
                  </am3d:trans>
                  <am3d:raster rName="Office3DRenderer" rVer="16.0.8326">
                    <am3d:blip r:embed="rId9"/>
                  </am3d:raster>
                  <am3d:objViewport viewportSz="541866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Model 12">
                <a:extLst>
                  <a:ext uri="{FF2B5EF4-FFF2-40B4-BE49-F238E27FC236}">
                    <a16:creationId xmlns:a16="http://schemas.microsoft.com/office/drawing/2014/main" xmlns="" id="{94F86C71-E13E-48EE-80AF-36FAF349D11C}"/>
                  </a:ext>
                </a:extLst>
              </p:cNvPr>
              <p:cNvPicPr>
                <a:picLocks noGrp="1" noRot="1" noChangeAspect="1" noMove="1" noResize="1" noEditPoints="1" noAdjustHandles="1" noChangeArrowheads="1" noChangeShapeType="1" noCrop="1"/>
              </p:cNvPicPr>
              <p:nvPr/>
            </p:nvPicPr>
            <p:blipFill>
              <a:blip r:embed="rId10"/>
              <a:stretch>
                <a:fillRect/>
              </a:stretch>
            </p:blipFill>
            <p:spPr>
              <a:xfrm>
                <a:off x="-3606303" y="4847350"/>
                <a:ext cx="4697844" cy="3603367"/>
              </a:xfrm>
              <a:prstGeom prst="rect">
                <a:avLst/>
              </a:prstGeom>
            </p:spPr>
          </p:pic>
        </mc:Fallback>
      </mc:AlternateContent>
    </p:spTree>
    <p:extLst>
      <p:ext uri="{BB962C8B-B14F-4D97-AF65-F5344CB8AC3E}">
        <p14:creationId xmlns:p14="http://schemas.microsoft.com/office/powerpoint/2010/main" val="1948517691"/>
      </p:ext>
    </p:extLst>
  </p:cSld>
  <p:clrMapOvr>
    <a:masterClrMapping/>
  </p:clrMapOvr>
  <p:transition spd="slow" advClick="0" advTm="2000">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4281494594"/>
                  </p:ext>
                </p:extLst>
              </p:nvPr>
            </p:nvGraphicFramePr>
            <p:xfrm>
              <a:off x="-321231" y="3956507"/>
              <a:ext cx="3454243" cy="2578789"/>
            </p:xfrm>
            <a:graphic>
              <a:graphicData uri="http://schemas.microsoft.com/office/drawing/2017/model3d">
                <am3d:model3d r:embed="rId2">
                  <am3d:spPr>
                    <a:xfrm>
                      <a:off x="0" y="0"/>
                      <a:ext cx="3454243" cy="2578789"/>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2024978" ay="1410898" az="895589"/>
                    <am3d:postTrans dx="0" dy="0" dz="0"/>
                  </am3d:trans>
                  <am3d:raster rName="Office3DRenderer" rVer="16.0.8326">
                    <am3d:blip r:embed="rId3"/>
                  </am3d:raster>
                  <am3d:objViewport viewportSz="372068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4"/>
              <a:stretch>
                <a:fillRect/>
              </a:stretch>
            </p:blipFill>
            <p:spPr>
              <a:xfrm>
                <a:off x="-321231" y="3956507"/>
                <a:ext cx="3454243" cy="2578789"/>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1616675" y="-546055"/>
            <a:ext cx="8958649" cy="8958649"/>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521110" y="7057036"/>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
        <p:nvSpPr>
          <p:cNvPr id="3" name="TextBox 2">
            <a:extLst>
              <a:ext uri="{FF2B5EF4-FFF2-40B4-BE49-F238E27FC236}">
                <a16:creationId xmlns:a16="http://schemas.microsoft.com/office/drawing/2014/main" xmlns="" id="{087DF6C6-1655-43C8-A7A8-4A979B70EF83}"/>
              </a:ext>
            </a:extLst>
          </p:cNvPr>
          <p:cNvSpPr txBox="1"/>
          <p:nvPr/>
        </p:nvSpPr>
        <p:spPr>
          <a:xfrm>
            <a:off x="539541" y="120051"/>
            <a:ext cx="7260259" cy="1862048"/>
          </a:xfrm>
          <a:prstGeom prst="rect">
            <a:avLst/>
          </a:prstGeom>
          <a:noFill/>
        </p:spPr>
        <p:txBody>
          <a:bodyPr wrap="square" rtlCol="1">
            <a:spAutoFit/>
          </a:bodyPr>
          <a:lstStyle/>
          <a:p>
            <a:r>
              <a:rPr lang="en-US" sz="11500" b="1" dirty="0">
                <a:latin typeface="Aldhabi" panose="01000000000000000000" pitchFamily="2" charset="-78"/>
                <a:cs typeface="Aldhabi" panose="01000000000000000000" pitchFamily="2" charset="-78"/>
              </a:rPr>
              <a:t>Technology Stack</a:t>
            </a:r>
            <a:endParaRPr lang="ar-JO" sz="11500" b="1" dirty="0">
              <a:latin typeface="Aldhabi" panose="01000000000000000000" pitchFamily="2" charset="-78"/>
              <a:cs typeface="Aldhabi" panose="01000000000000000000" pitchFamily="2" charset="-78"/>
            </a:endParaRPr>
          </a:p>
        </p:txBody>
      </p:sp>
      <p:sp>
        <p:nvSpPr>
          <p:cNvPr id="4" name="TextBox 3">
            <a:extLst>
              <a:ext uri="{FF2B5EF4-FFF2-40B4-BE49-F238E27FC236}">
                <a16:creationId xmlns:a16="http://schemas.microsoft.com/office/drawing/2014/main" xmlns="" id="{96428190-83BF-4721-967B-ADF9CBA7B3E3}"/>
              </a:ext>
            </a:extLst>
          </p:cNvPr>
          <p:cNvSpPr txBox="1"/>
          <p:nvPr/>
        </p:nvSpPr>
        <p:spPr>
          <a:xfrm>
            <a:off x="320505" y="1871167"/>
            <a:ext cx="10706083" cy="2062103"/>
          </a:xfrm>
          <a:prstGeom prst="rect">
            <a:avLst/>
          </a:prstGeom>
          <a:noFill/>
        </p:spPr>
        <p:txBody>
          <a:bodyPr wrap="square" rtlCol="1">
            <a:spAutoFit/>
          </a:bodyPr>
          <a:lstStyle/>
          <a:p>
            <a:pPr algn="ctr"/>
            <a:r>
              <a:rPr lang="en-US" sz="3200" dirty="0">
                <a:latin typeface="Aldhabi" panose="01000000000000000000" pitchFamily="2" charset="-78"/>
                <a:cs typeface="Aldhabi" panose="01000000000000000000" pitchFamily="2" charset="-78"/>
              </a:rPr>
              <a:t>The system is powered by cutting-edge technologies. Google Vision API enables environment recognition, while Text-to-Speech generates natural-sounding voices in both Arabic and English. Firebase manages data and personalization, and OpenCV provides accurate eye-tracking to ensure seamless interaction.</a:t>
            </a:r>
          </a:p>
        </p:txBody>
      </p:sp>
      <mc:AlternateContent xmlns:mc="http://schemas.openxmlformats.org/markup-compatibility/2006">
        <mc:Choice xmlns:am3d="http://schemas.microsoft.com/office/drawing/2017/model3d" xmlns="" Requires="am3d">
          <p:graphicFrame>
            <p:nvGraphicFramePr>
              <p:cNvPr id="5" name="3D Model 4">
                <a:extLst>
                  <a:ext uri="{FF2B5EF4-FFF2-40B4-BE49-F238E27FC236}">
                    <a16:creationId xmlns:a16="http://schemas.microsoft.com/office/drawing/2014/main" id="{05CD7036-EC40-4536-9523-0C10E8D2AE58}"/>
                  </a:ext>
                </a:extLst>
              </p:cNvPr>
              <p:cNvGraphicFramePr>
                <a:graphicFrameLocks noChangeAspect="1"/>
              </p:cNvGraphicFramePr>
              <p:nvPr>
                <p:extLst>
                  <p:ext uri="{D42A27DB-BD31-4B8C-83A1-F6EECF244321}">
                    <p14:modId xmlns:p14="http://schemas.microsoft.com/office/powerpoint/2010/main" val="2314601312"/>
                  </p:ext>
                </p:extLst>
              </p:nvPr>
            </p:nvGraphicFramePr>
            <p:xfrm rot="344856">
              <a:off x="7398872" y="3170939"/>
              <a:ext cx="4390357" cy="3367519"/>
            </p:xfrm>
            <a:graphic>
              <a:graphicData uri="http://schemas.microsoft.com/office/drawing/2017/model3d">
                <am3d:model3d r:embed="rId6">
                  <am3d:spPr>
                    <a:xfrm rot="344856">
                      <a:off x="0" y="0"/>
                      <a:ext cx="4390357" cy="3367519"/>
                    </a:xfrm>
                    <a:prstGeom prst="rect">
                      <a:avLst/>
                    </a:prstGeom>
                  </am3d:spPr>
                  <am3d:camera>
                    <am3d:pos x="0" y="0" z="70616533"/>
                    <am3d:up dx="0" dy="36000000" dz="0"/>
                    <am3d:lookAt x="0" y="0" z="0"/>
                    <am3d:perspective fov="2700000"/>
                  </am3d:camera>
                  <am3d:trans>
                    <am3d:meterPerModelUnit n="26928" d="1000000"/>
                    <am3d:preTrans dx="197213" dy="-602254" dz="-1115515"/>
                    <am3d:scale>
                      <am3d:sx n="1000000" d="1000000"/>
                      <am3d:sy n="1000000" d="1000000"/>
                      <am3d:sz n="1000000" d="1000000"/>
                    </am3d:scale>
                    <am3d:rot ax="10032911" ay="4378058" az="10065527"/>
                    <am3d:postTrans dx="0" dy="0" dz="0"/>
                  </am3d:trans>
                  <am3d:raster rName="Office3DRenderer" rVer="16.0.8326">
                    <am3d:blip r:embed="rId7"/>
                  </am3d:raster>
                  <am3d:objViewport viewportSz="506400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a:extLst>
                  <a:ext uri="{FF2B5EF4-FFF2-40B4-BE49-F238E27FC236}">
                    <a16:creationId xmlns:a16="http://schemas.microsoft.com/office/drawing/2014/main" xmlns="" id="{05CD7036-EC40-4536-9523-0C10E8D2AE58}"/>
                  </a:ext>
                </a:extLst>
              </p:cNvPr>
              <p:cNvPicPr>
                <a:picLocks noGrp="1" noRot="1" noChangeAspect="1" noMove="1" noResize="1" noEditPoints="1" noAdjustHandles="1" noChangeArrowheads="1" noChangeShapeType="1" noCrop="1"/>
              </p:cNvPicPr>
              <p:nvPr/>
            </p:nvPicPr>
            <p:blipFill>
              <a:blip r:embed="rId8"/>
              <a:stretch>
                <a:fillRect/>
              </a:stretch>
            </p:blipFill>
            <p:spPr>
              <a:xfrm rot="344856">
                <a:off x="7398872" y="3170939"/>
                <a:ext cx="4390357" cy="3367519"/>
              </a:xfrm>
              <a:prstGeom prst="rect">
                <a:avLst/>
              </a:prstGeom>
            </p:spPr>
          </p:pic>
        </mc:Fallback>
      </mc:AlternateContent>
      <p:pic>
        <p:nvPicPr>
          <p:cNvPr id="2050" name="Picture 2">
            <a:extLst>
              <a:ext uri="{FF2B5EF4-FFF2-40B4-BE49-F238E27FC236}">
                <a16:creationId xmlns:a16="http://schemas.microsoft.com/office/drawing/2014/main" xmlns="" id="{29F7983C-6DEA-439C-B368-A6E8A1F68E7E}"/>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985790" y="4279270"/>
            <a:ext cx="1137581" cy="113758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xmlns="" id="{60D2AD62-1019-465E-B37D-0ECFDFC527F0}"/>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backgroundRemoval t="10000" b="90000" l="10000" r="90000">
                        <a14:foregroundMark x1="65959" y1="70000" x2="53227" y2="68935"/>
                        <a14:foregroundMark x1="53227" y1="68935" x2="62599" y2="74083"/>
                        <a14:foregroundMark x1="62599" y1="74083" x2="70115" y2="68817"/>
                        <a14:foregroundMark x1="70115" y1="68817" x2="58974" y2="69053"/>
                        <a14:foregroundMark x1="58974" y1="69053" x2="70115" y2="70296"/>
                        <a14:foregroundMark x1="70115" y1="70296" x2="49337" y2="73195"/>
                        <a14:foregroundMark x1="39523" y1="26805" x2="42882" y2="27456"/>
                        <a14:foregroundMark x1="51370" y1="24320" x2="55526" y2="25680"/>
                        <a14:foregroundMark x1="38196" y1="13905" x2="40230" y2="14675"/>
                      </a14:backgroundRemoval>
                    </a14:imgEffect>
                  </a14:imgLayer>
                </a14:imgProps>
              </a:ext>
              <a:ext uri="{28A0092B-C50C-407E-A947-70E740481C1C}">
                <a14:useLocalDpi xmlns:a14="http://schemas.microsoft.com/office/drawing/2010/main" val="0"/>
              </a:ext>
            </a:extLst>
          </a:blip>
          <a:srcRect/>
          <a:stretch>
            <a:fillRect/>
          </a:stretch>
        </p:blipFill>
        <p:spPr bwMode="auto">
          <a:xfrm>
            <a:off x="-3041893" y="-3798477"/>
            <a:ext cx="1625420" cy="2428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841669"/>
      </p:ext>
    </p:extLst>
  </p:cSld>
  <p:clrMapOvr>
    <a:masterClrMapping/>
  </p:clrMapOvr>
  <p:transition spd="slow" advClick="0" advTm="2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mph" presetSubtype="128" repeatCount="indefinite" fill="hold" nodeType="clickEffect">
                                  <p:stCondLst>
                                    <p:cond delay="0"/>
                                  </p:stCondLst>
                                  <p:childTnLst>
                                    <p:animRot by="21600000">
                                      <p:cBhvr>
                                        <p:cTn id="6" dur="20000" fill="hold"/>
                                        <p:tgtEl>
                                          <p:spTgt spid="5"/>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xmlns="" Requires="am3d">
          <p:graphicFrame>
            <p:nvGraphicFramePr>
              <p:cNvPr id="2" name="3D Model 1">
                <a:extLst>
                  <a:ext uri="{FF2B5EF4-FFF2-40B4-BE49-F238E27FC236}">
                    <a16:creationId xmlns:a16="http://schemas.microsoft.com/office/drawing/2014/main" id="{DE9D0CD5-5182-4F48-A31F-92D15121AECA}"/>
                  </a:ext>
                </a:extLst>
              </p:cNvPr>
              <p:cNvGraphicFramePr>
                <a:graphicFrameLocks noChangeAspect="1"/>
              </p:cNvGraphicFramePr>
              <p:nvPr>
                <p:extLst>
                  <p:ext uri="{D42A27DB-BD31-4B8C-83A1-F6EECF244321}">
                    <p14:modId xmlns:p14="http://schemas.microsoft.com/office/powerpoint/2010/main" val="3649519449"/>
                  </p:ext>
                </p:extLst>
              </p:nvPr>
            </p:nvGraphicFramePr>
            <p:xfrm>
              <a:off x="180456" y="2049878"/>
              <a:ext cx="5229172" cy="3076544"/>
            </p:xfrm>
            <a:graphic>
              <a:graphicData uri="http://schemas.microsoft.com/office/drawing/2017/model3d">
                <am3d:model3d r:embed="rId2">
                  <am3d:spPr>
                    <a:xfrm>
                      <a:off x="0" y="0"/>
                      <a:ext cx="5229172" cy="3076544"/>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988807" ay="2324747" az="629357"/>
                    <am3d:postTrans dx="0" dy="0" dz="0"/>
                  </am3d:trans>
                  <am3d:raster rName="Office3DRenderer" rVer="16.0.8326">
                    <am3d:blip r:embed="rId3"/>
                  </am3d:raster>
                  <am3d:objViewport viewportSz="610546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xmlns="" id="{DE9D0CD5-5182-4F48-A31F-92D15121AECA}"/>
                  </a:ext>
                </a:extLst>
              </p:cNvPr>
              <p:cNvPicPr>
                <a:picLocks noGrp="1" noRot="1" noChangeAspect="1" noMove="1" noResize="1" noEditPoints="1" noAdjustHandles="1" noChangeArrowheads="1" noChangeShapeType="1" noCrop="1"/>
              </p:cNvPicPr>
              <p:nvPr/>
            </p:nvPicPr>
            <p:blipFill>
              <a:blip r:embed="rId4"/>
              <a:stretch>
                <a:fillRect/>
              </a:stretch>
            </p:blipFill>
            <p:spPr>
              <a:xfrm>
                <a:off x="180456" y="2049878"/>
                <a:ext cx="5229172" cy="3076544"/>
              </a:xfrm>
              <a:prstGeom prst="rect">
                <a:avLst/>
              </a:prstGeom>
            </p:spPr>
          </p:pic>
        </mc:Fallback>
      </mc:AlternateContent>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1616675" y="-546055"/>
            <a:ext cx="8958649" cy="8958649"/>
          </a:xfrm>
          <a:prstGeom prst="rect">
            <a:avLst/>
          </a:prstGeom>
        </p:spPr>
      </p:pic>
      <p:sp>
        <p:nvSpPr>
          <p:cNvPr id="10" name="TextBox 9">
            <a:extLst>
              <a:ext uri="{FF2B5EF4-FFF2-40B4-BE49-F238E27FC236}">
                <a16:creationId xmlns:a16="http://schemas.microsoft.com/office/drawing/2014/main" xmlns="" id="{056CD1DD-146C-43F2-BC2D-F2882D6E504F}"/>
              </a:ext>
            </a:extLst>
          </p:cNvPr>
          <p:cNvSpPr txBox="1"/>
          <p:nvPr/>
        </p:nvSpPr>
        <p:spPr>
          <a:xfrm>
            <a:off x="521110" y="7057036"/>
            <a:ext cx="12194457" cy="769441"/>
          </a:xfrm>
          <a:prstGeom prst="rect">
            <a:avLst/>
          </a:prstGeom>
          <a:noFill/>
        </p:spPr>
        <p:txBody>
          <a:bodyPr wrap="square" rtlCol="1">
            <a:spAutoFit/>
          </a:bodyPr>
          <a:lstStyle/>
          <a:p>
            <a:pPr algn="ctr"/>
            <a:r>
              <a:rPr lang="en-US" sz="4400" dirty="0">
                <a:latin typeface="Aldhabi" panose="01000000000000000000" pitchFamily="2" charset="-78"/>
                <a:cs typeface="Aldhabi" panose="01000000000000000000" pitchFamily="2" charset="-78"/>
              </a:rPr>
              <a:t>A SMART GLASSES FOR SILENT VOICES.</a:t>
            </a:r>
            <a:endParaRPr lang="ar-JO" sz="4400" dirty="0">
              <a:latin typeface="Aldhabi" panose="01000000000000000000" pitchFamily="2" charset="-78"/>
              <a:cs typeface="Aldhabi" panose="01000000000000000000" pitchFamily="2" charset="-78"/>
            </a:endParaRPr>
          </a:p>
        </p:txBody>
      </p:sp>
      <p:sp>
        <p:nvSpPr>
          <p:cNvPr id="3" name="TextBox 2">
            <a:extLst>
              <a:ext uri="{FF2B5EF4-FFF2-40B4-BE49-F238E27FC236}">
                <a16:creationId xmlns:a16="http://schemas.microsoft.com/office/drawing/2014/main" xmlns="" id="{087DF6C6-1655-43C8-A7A8-4A979B70EF83}"/>
              </a:ext>
            </a:extLst>
          </p:cNvPr>
          <p:cNvSpPr txBox="1"/>
          <p:nvPr/>
        </p:nvSpPr>
        <p:spPr>
          <a:xfrm>
            <a:off x="1418947" y="97552"/>
            <a:ext cx="8486589" cy="1569660"/>
          </a:xfrm>
          <a:prstGeom prst="rect">
            <a:avLst/>
          </a:prstGeom>
          <a:noFill/>
        </p:spPr>
        <p:txBody>
          <a:bodyPr wrap="square" rtlCol="1">
            <a:spAutoFit/>
          </a:bodyPr>
          <a:lstStyle/>
          <a:p>
            <a:r>
              <a:rPr lang="en-US" sz="9600" b="1" dirty="0">
                <a:latin typeface="Aldhabi" panose="01000000000000000000" pitchFamily="2" charset="-78"/>
                <a:cs typeface="Aldhabi" panose="01000000000000000000" pitchFamily="2" charset="-78"/>
              </a:rPr>
              <a:t>Reliability &amp; Adaptability </a:t>
            </a:r>
            <a:endParaRPr lang="ar-JO" sz="9600" b="1" dirty="0">
              <a:latin typeface="Aldhabi" panose="01000000000000000000" pitchFamily="2" charset="-78"/>
              <a:cs typeface="Aldhabi" panose="01000000000000000000" pitchFamily="2" charset="-78"/>
            </a:endParaRPr>
          </a:p>
        </p:txBody>
      </p:sp>
      <p:sp>
        <p:nvSpPr>
          <p:cNvPr id="4" name="TextBox 3">
            <a:extLst>
              <a:ext uri="{FF2B5EF4-FFF2-40B4-BE49-F238E27FC236}">
                <a16:creationId xmlns:a16="http://schemas.microsoft.com/office/drawing/2014/main" xmlns="" id="{96428190-83BF-4721-967B-ADF9CBA7B3E3}"/>
              </a:ext>
            </a:extLst>
          </p:cNvPr>
          <p:cNvSpPr txBox="1"/>
          <p:nvPr/>
        </p:nvSpPr>
        <p:spPr>
          <a:xfrm>
            <a:off x="6229114" y="1715605"/>
            <a:ext cx="4720418" cy="3539430"/>
          </a:xfrm>
          <a:prstGeom prst="rect">
            <a:avLst/>
          </a:prstGeom>
          <a:noFill/>
        </p:spPr>
        <p:txBody>
          <a:bodyPr wrap="square" rtlCol="1">
            <a:spAutoFit/>
          </a:bodyPr>
          <a:lstStyle/>
          <a:p>
            <a:pPr algn="ctr"/>
            <a:r>
              <a:rPr lang="en-US" sz="3200" dirty="0" err="1">
                <a:latin typeface="Aldhabi" panose="01000000000000000000" pitchFamily="2" charset="-78"/>
                <a:cs typeface="Aldhabi" panose="01000000000000000000" pitchFamily="2" charset="-78"/>
              </a:rPr>
              <a:t>Eyecan</a:t>
            </a:r>
            <a:r>
              <a:rPr lang="en-US" sz="3200" dirty="0">
                <a:latin typeface="Aldhabi" panose="01000000000000000000" pitchFamily="2" charset="-78"/>
                <a:cs typeface="Aldhabi" panose="01000000000000000000" pitchFamily="2" charset="-78"/>
              </a:rPr>
              <a:t> is designed for real-world conditions. Its long-lasting battery makes it reliable in daily use, even in low-resource environments such as conflict zones. The system is open to future updates, making it a scalable and evolving humanitarian technology..</a:t>
            </a:r>
          </a:p>
        </p:txBody>
      </p:sp>
      <mc:AlternateContent xmlns:mc="http://schemas.openxmlformats.org/markup-compatibility/2006">
        <mc:Choice xmlns:am3d="http://schemas.microsoft.com/office/drawing/2017/model3d" xmlns="" Requires="am3d">
          <p:graphicFrame>
            <p:nvGraphicFramePr>
              <p:cNvPr id="5" name="3D Model 4">
                <a:extLst>
                  <a:ext uri="{FF2B5EF4-FFF2-40B4-BE49-F238E27FC236}">
                    <a16:creationId xmlns:a16="http://schemas.microsoft.com/office/drawing/2014/main" id="{05CD7036-EC40-4536-9523-0C10E8D2AE58}"/>
                  </a:ext>
                </a:extLst>
              </p:cNvPr>
              <p:cNvGraphicFramePr>
                <a:graphicFrameLocks noChangeAspect="1"/>
              </p:cNvGraphicFramePr>
              <p:nvPr>
                <p:extLst>
                  <p:ext uri="{D42A27DB-BD31-4B8C-83A1-F6EECF244321}">
                    <p14:modId xmlns:p14="http://schemas.microsoft.com/office/powerpoint/2010/main" val="1292494091"/>
                  </p:ext>
                </p:extLst>
              </p:nvPr>
            </p:nvGraphicFramePr>
            <p:xfrm>
              <a:off x="11585199" y="5824143"/>
              <a:ext cx="4697838" cy="3603365"/>
            </p:xfrm>
            <a:graphic>
              <a:graphicData uri="http://schemas.microsoft.com/office/drawing/2017/model3d">
                <am3d:model3d r:embed="rId6">
                  <am3d:spPr>
                    <a:xfrm>
                      <a:off x="0" y="0"/>
                      <a:ext cx="4697838" cy="3603365"/>
                    </a:xfrm>
                    <a:prstGeom prst="rect">
                      <a:avLst/>
                    </a:prstGeom>
                  </am3d:spPr>
                  <am3d:camera>
                    <am3d:pos x="0" y="0" z="70616533"/>
                    <am3d:up dx="0" dy="36000000" dz="0"/>
                    <am3d:lookAt x="0" y="0" z="0"/>
                    <am3d:perspective fov="2700000"/>
                  </am3d:camera>
                  <am3d:trans>
                    <am3d:meterPerModelUnit n="26928" d="1000000"/>
                    <am3d:preTrans dx="197213" dy="-602254" dz="-1115515"/>
                    <am3d:scale>
                      <am3d:sx n="1000000" d="1000000"/>
                      <am3d:sy n="1000000" d="1000000"/>
                      <am3d:sz n="1000000" d="1000000"/>
                    </am3d:scale>
                    <am3d:rot ax="10032911" ay="4378058" az="10065527"/>
                    <am3d:postTrans dx="0" dy="0" dz="0"/>
                  </am3d:trans>
                  <am3d:raster rName="Office3DRenderer" rVer="16.0.8326">
                    <am3d:blip r:embed="rId7"/>
                  </am3d:raster>
                  <am3d:objViewport viewportSz="54186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a:extLst>
                  <a:ext uri="{FF2B5EF4-FFF2-40B4-BE49-F238E27FC236}">
                    <a16:creationId xmlns:a16="http://schemas.microsoft.com/office/drawing/2014/main" xmlns="" id="{05CD7036-EC40-4536-9523-0C10E8D2AE58}"/>
                  </a:ext>
                </a:extLst>
              </p:cNvPr>
              <p:cNvPicPr>
                <a:picLocks noGrp="1" noRot="1" noChangeAspect="1" noMove="1" noResize="1" noEditPoints="1" noAdjustHandles="1" noChangeArrowheads="1" noChangeShapeType="1" noCrop="1"/>
              </p:cNvPicPr>
              <p:nvPr/>
            </p:nvPicPr>
            <p:blipFill>
              <a:blip r:embed="rId8"/>
              <a:stretch>
                <a:fillRect/>
              </a:stretch>
            </p:blipFill>
            <p:spPr>
              <a:xfrm>
                <a:off x="11585199" y="5824143"/>
                <a:ext cx="4697838" cy="3603365"/>
              </a:xfrm>
              <a:prstGeom prst="rect">
                <a:avLst/>
              </a:prstGeom>
            </p:spPr>
          </p:pic>
        </mc:Fallback>
      </mc:AlternateContent>
      <p:pic>
        <p:nvPicPr>
          <p:cNvPr id="2050" name="Picture 2">
            <a:extLst>
              <a:ext uri="{FF2B5EF4-FFF2-40B4-BE49-F238E27FC236}">
                <a16:creationId xmlns:a16="http://schemas.microsoft.com/office/drawing/2014/main" xmlns="" id="{29F7983C-6DEA-439C-B368-A6E8A1F68E7E}"/>
              </a:ext>
            </a:extLst>
          </p:cNvPr>
          <p:cNvPicPr>
            <a:picLocks noChangeAspect="1" noChangeArrowheads="1"/>
          </p:cNvPicPr>
          <p:nvPr/>
        </p:nvPicPr>
        <p:blipFill>
          <a:blip r:embed="rId3"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295464" y="7057036"/>
            <a:ext cx="1137581" cy="113758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xmlns="" id="{A1DFDC0A-CE70-4346-9E9D-423753A749F9}"/>
              </a:ext>
            </a:extLst>
          </p:cNvPr>
          <p:cNvPicPr>
            <a:picLocks noChangeAspect="1" noChangeArrowheads="1"/>
          </p:cNvPicPr>
          <p:nvPr/>
        </p:nvPicPr>
        <p:blipFill>
          <a:blip r:embed="rId7" cstate="print">
            <a:extLst>
              <a:ext uri="{BEBA8EAE-BF5A-486C-A8C5-ECC9F3942E4B}">
                <a14:imgProps xmlns:a14="http://schemas.microsoft.com/office/drawing/2010/main">
                  <a14:imgLayer r:embed="rId10">
                    <a14:imgEffect>
                      <a14:backgroundRemoval t="10000" b="90000" l="10000" r="90000">
                        <a14:foregroundMark x1="65959" y1="70000" x2="53227" y2="68935"/>
                        <a14:foregroundMark x1="53227" y1="68935" x2="62599" y2="74083"/>
                        <a14:foregroundMark x1="62599" y1="74083" x2="70115" y2="68817"/>
                        <a14:foregroundMark x1="70115" y1="68817" x2="58974" y2="69053"/>
                        <a14:foregroundMark x1="58974" y1="69053" x2="70115" y2="70296"/>
                        <a14:foregroundMark x1="70115" y1="70296" x2="49337" y2="73195"/>
                        <a14:foregroundMark x1="39523" y1="26805" x2="42882" y2="27456"/>
                        <a14:foregroundMark x1="51370" y1="24320" x2="55526" y2="25680"/>
                        <a14:foregroundMark x1="38196" y1="13905" x2="40230" y2="14675"/>
                      </a14:backgroundRemoval>
                    </a14:imgEffect>
                  </a14:imgLayer>
                </a14:imgProps>
              </a:ext>
              <a:ext uri="{28A0092B-C50C-407E-A947-70E740481C1C}">
                <a14:useLocalDpi xmlns:a14="http://schemas.microsoft.com/office/drawing/2010/main" val="0"/>
              </a:ext>
            </a:extLst>
          </a:blip>
          <a:srcRect/>
          <a:stretch>
            <a:fillRect/>
          </a:stretch>
        </p:blipFill>
        <p:spPr bwMode="auto">
          <a:xfrm>
            <a:off x="1051544" y="2214573"/>
            <a:ext cx="1625420" cy="242885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xmlns="" id="{070213E1-738D-4CCE-AED3-C956FF09C78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256772" y="-984916"/>
            <a:ext cx="902885" cy="9028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xmlns="" id="{61898555-13AB-4FCD-924E-55410F26EFF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612560" y="-1525814"/>
            <a:ext cx="985752" cy="9857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xmlns="" id="{72A64D75-8FC0-48F3-82AF-E0C4F1660C59}"/>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466434">
            <a:off x="9809806" y="-1319900"/>
            <a:ext cx="1217036" cy="1217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833858"/>
      </p:ext>
    </p:extLst>
  </p:cSld>
  <p:clrMapOvr>
    <a:masterClrMapping/>
  </p:clrMapOvr>
  <p:transition spd="slow" advClick="0" advTm="2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mph" presetSubtype="128" repeatCount="indefinite" fill="hold" nodeType="clickEffect">
                                  <p:stCondLst>
                                    <p:cond delay="0"/>
                                  </p:stCondLst>
                                  <p:childTnLst>
                                    <p:animRot by="21600000">
                                      <p:cBhvr>
                                        <p:cTn id="6" dur="20000" fill="hold"/>
                                        <p:tgtEl>
                                          <p:spTgt spid="5"/>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68715B3C-6755-4A52-BBDD-5722D0144CE4}"/>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1616675" y="-546055"/>
            <a:ext cx="8958649" cy="8958649"/>
          </a:xfrm>
          <a:prstGeom prst="rect">
            <a:avLst/>
          </a:prstGeom>
        </p:spPr>
      </p:pic>
      <mc:AlternateContent xmlns:mc="http://schemas.openxmlformats.org/markup-compatibility/2006">
        <mc:Choice xmlns:am3d="http://schemas.microsoft.com/office/drawing/2017/model3d" xmlns="" Requires="am3d">
          <p:graphicFrame>
            <p:nvGraphicFramePr>
              <p:cNvPr id="20" name="3D Model 19">
                <a:extLst>
                  <a:ext uri="{FF2B5EF4-FFF2-40B4-BE49-F238E27FC236}">
                    <a16:creationId xmlns:a16="http://schemas.microsoft.com/office/drawing/2014/main" id="{B8749DBC-447C-49D5-AA33-E2F7C78272B3}"/>
                  </a:ext>
                </a:extLst>
              </p:cNvPr>
              <p:cNvGraphicFramePr>
                <a:graphicFrameLocks noChangeAspect="1"/>
              </p:cNvGraphicFramePr>
              <p:nvPr>
                <p:extLst>
                  <p:ext uri="{D42A27DB-BD31-4B8C-83A1-F6EECF244321}">
                    <p14:modId xmlns:p14="http://schemas.microsoft.com/office/powerpoint/2010/main" val="1298477278"/>
                  </p:ext>
                </p:extLst>
              </p:nvPr>
            </p:nvGraphicFramePr>
            <p:xfrm>
              <a:off x="7338563" y="3403673"/>
              <a:ext cx="4450295" cy="2890791"/>
            </p:xfrm>
            <a:graphic>
              <a:graphicData uri="http://schemas.microsoft.com/office/drawing/2017/model3d">
                <am3d:model3d r:embed="rId3">
                  <am3d:spPr>
                    <a:xfrm>
                      <a:off x="0" y="0"/>
                      <a:ext cx="4450295" cy="2890791"/>
                    </a:xfrm>
                    <a:prstGeom prst="rect">
                      <a:avLst/>
                    </a:prstGeom>
                  </am3d:spPr>
                  <am3d:camera>
                    <am3d:pos x="0" y="0" z="66826284"/>
                    <am3d:up dx="0" dy="36000000" dz="0"/>
                    <am3d:lookAt x="0" y="0" z="0"/>
                    <am3d:perspective fov="2700000"/>
                  </am3d:camera>
                  <am3d:trans>
                    <am3d:meterPerModelUnit n="710957" d="1000000"/>
                    <am3d:preTrans dx="887" dy="746428" dz="14147286"/>
                    <am3d:scale>
                      <am3d:sx n="1000000" d="1000000"/>
                      <am3d:sy n="1000000" d="1000000"/>
                      <am3d:sz n="1000000" d="1000000"/>
                    </am3d:scale>
                    <am3d:rot ax="1368149" ay="-1408969" az="-570638"/>
                    <am3d:postTrans dx="0" dy="0" dz="0"/>
                  </am3d:trans>
                  <am3d:raster rName="Office3DRenderer" rVer="16.0.8326">
                    <am3d:blip r:embed="rId4"/>
                  </am3d:raster>
                  <am3d:objViewport viewportSz="48877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3D Model 19">
                <a:extLst>
                  <a:ext uri="{FF2B5EF4-FFF2-40B4-BE49-F238E27FC236}">
                    <a16:creationId xmlns:a16="http://schemas.microsoft.com/office/drawing/2014/main" xmlns="" id="{B8749DBC-447C-49D5-AA33-E2F7C78272B3}"/>
                  </a:ext>
                </a:extLst>
              </p:cNvPr>
              <p:cNvPicPr>
                <a:picLocks noGrp="1" noRot="1" noChangeAspect="1" noMove="1" noResize="1" noEditPoints="1" noAdjustHandles="1" noChangeArrowheads="1" noChangeShapeType="1" noCrop="1"/>
              </p:cNvPicPr>
              <p:nvPr/>
            </p:nvPicPr>
            <p:blipFill>
              <a:blip r:embed="rId5"/>
              <a:stretch>
                <a:fillRect/>
              </a:stretch>
            </p:blipFill>
            <p:spPr>
              <a:xfrm>
                <a:off x="7338563" y="3403673"/>
                <a:ext cx="4450295" cy="2890791"/>
              </a:xfrm>
              <a:prstGeom prst="rect">
                <a:avLst/>
              </a:prstGeom>
            </p:spPr>
          </p:pic>
        </mc:Fallback>
      </mc:AlternateContent>
      <p:sp>
        <p:nvSpPr>
          <p:cNvPr id="21" name="TextBox 20">
            <a:extLst>
              <a:ext uri="{FF2B5EF4-FFF2-40B4-BE49-F238E27FC236}">
                <a16:creationId xmlns:a16="http://schemas.microsoft.com/office/drawing/2014/main" xmlns="" id="{1033F690-B2EE-466C-BF6A-D63C956738D6}"/>
              </a:ext>
            </a:extLst>
          </p:cNvPr>
          <p:cNvSpPr txBox="1"/>
          <p:nvPr/>
        </p:nvSpPr>
        <p:spPr>
          <a:xfrm>
            <a:off x="1077122" y="313082"/>
            <a:ext cx="8486589" cy="1569660"/>
          </a:xfrm>
          <a:prstGeom prst="rect">
            <a:avLst/>
          </a:prstGeom>
          <a:noFill/>
        </p:spPr>
        <p:txBody>
          <a:bodyPr wrap="square" rtlCol="1">
            <a:spAutoFit/>
          </a:bodyPr>
          <a:lstStyle/>
          <a:p>
            <a:r>
              <a:rPr lang="en-US" sz="9600" b="1" dirty="0">
                <a:latin typeface="Aldhabi" panose="01000000000000000000" pitchFamily="2" charset="-78"/>
                <a:cs typeface="Aldhabi" panose="01000000000000000000" pitchFamily="2" charset="-78"/>
              </a:rPr>
              <a:t>Targeted Users?</a:t>
            </a:r>
            <a:endParaRPr lang="ar-JO" sz="9600" b="1" dirty="0">
              <a:latin typeface="Aldhabi" panose="01000000000000000000" pitchFamily="2" charset="-78"/>
              <a:cs typeface="Aldhabi" panose="01000000000000000000" pitchFamily="2" charset="-78"/>
            </a:endParaRPr>
          </a:p>
        </p:txBody>
      </p:sp>
      <p:sp>
        <p:nvSpPr>
          <p:cNvPr id="22" name="TextBox 21">
            <a:extLst>
              <a:ext uri="{FF2B5EF4-FFF2-40B4-BE49-F238E27FC236}">
                <a16:creationId xmlns:a16="http://schemas.microsoft.com/office/drawing/2014/main" xmlns="" id="{5F18EA82-D58B-473B-AABF-58A605F54AA0}"/>
              </a:ext>
            </a:extLst>
          </p:cNvPr>
          <p:cNvSpPr txBox="1"/>
          <p:nvPr/>
        </p:nvSpPr>
        <p:spPr>
          <a:xfrm>
            <a:off x="717630" y="1710827"/>
            <a:ext cx="10579142" cy="2062103"/>
          </a:xfrm>
          <a:prstGeom prst="rect">
            <a:avLst/>
          </a:prstGeom>
          <a:noFill/>
        </p:spPr>
        <p:txBody>
          <a:bodyPr wrap="square" rtlCol="1">
            <a:spAutoFit/>
          </a:bodyPr>
          <a:lstStyle/>
          <a:p>
            <a:pPr algn="ctr"/>
            <a:r>
              <a:rPr lang="en-US" sz="3200" dirty="0">
                <a:latin typeface="Aldhabi" panose="01000000000000000000" pitchFamily="2" charset="-78"/>
                <a:cs typeface="Aldhabi" panose="01000000000000000000" pitchFamily="2" charset="-78"/>
              </a:rPr>
              <a:t>The primary beneficiaries of </a:t>
            </a:r>
            <a:r>
              <a:rPr lang="en-US" sz="3200" dirty="0" err="1">
                <a:latin typeface="Aldhabi" panose="01000000000000000000" pitchFamily="2" charset="-78"/>
                <a:cs typeface="Aldhabi" panose="01000000000000000000" pitchFamily="2" charset="-78"/>
              </a:rPr>
              <a:t>Eyecan</a:t>
            </a:r>
            <a:r>
              <a:rPr lang="en-US" sz="3200" dirty="0">
                <a:latin typeface="Aldhabi" panose="01000000000000000000" pitchFamily="2" charset="-78"/>
                <a:cs typeface="Aldhabi" panose="01000000000000000000" pitchFamily="2" charset="-78"/>
              </a:rPr>
              <a:t> are individuals with severe disabilities. This includes war victims who lost speech or mobility, people with partial or complete paralysis, and those who suffer from trauma-induced speech loss. It is also intended for anyone who remains cognitively aware but is unable to communicate through movement or voice.</a:t>
            </a:r>
          </a:p>
        </p:txBody>
      </p:sp>
      <p:pic>
        <p:nvPicPr>
          <p:cNvPr id="23" name="Picture 2">
            <a:extLst>
              <a:ext uri="{FF2B5EF4-FFF2-40B4-BE49-F238E27FC236}">
                <a16:creationId xmlns:a16="http://schemas.microsoft.com/office/drawing/2014/main" xmlns="" id="{96271F16-431F-4D0C-8330-4DA669C79F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7119" y="556599"/>
            <a:ext cx="902885" cy="90288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a:extLst>
              <a:ext uri="{FF2B5EF4-FFF2-40B4-BE49-F238E27FC236}">
                <a16:creationId xmlns:a16="http://schemas.microsoft.com/office/drawing/2014/main" xmlns="" id="{F7C040DE-3220-441B-A19E-454B7A96039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83805" y="22290"/>
            <a:ext cx="985752" cy="9857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xmlns="" id="{880D3816-6004-4650-9FCB-1AF141ECACF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466434">
            <a:off x="6917137" y="197245"/>
            <a:ext cx="1217036" cy="121703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xmlns="" id="{2DBDFFDF-BCCF-4090-99A4-C11DFD159F02}"/>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10000" b="90000" l="10000" r="90000">
                        <a14:foregroundMark x1="65959" y1="70000" x2="53227" y2="68935"/>
                        <a14:foregroundMark x1="53227" y1="68935" x2="62599" y2="74083"/>
                        <a14:foregroundMark x1="62599" y1="74083" x2="70115" y2="68817"/>
                        <a14:foregroundMark x1="70115" y1="68817" x2="58974" y2="69053"/>
                        <a14:foregroundMark x1="58974" y1="69053" x2="70115" y2="70296"/>
                        <a14:foregroundMark x1="70115" y1="70296" x2="49337" y2="73195"/>
                        <a14:foregroundMark x1="39523" y1="26805" x2="42882" y2="27456"/>
                        <a14:foregroundMark x1="51370" y1="24320" x2="55526" y2="25680"/>
                        <a14:foregroundMark x1="38196" y1="13905" x2="40230" y2="14675"/>
                      </a14:backgroundRemoval>
                    </a14:imgEffect>
                  </a14:imgLayer>
                </a14:imgProps>
              </a:ext>
              <a:ext uri="{28A0092B-C50C-407E-A947-70E740481C1C}">
                <a14:useLocalDpi xmlns:a14="http://schemas.microsoft.com/office/drawing/2010/main" val="0"/>
              </a:ext>
            </a:extLst>
          </a:blip>
          <a:srcRect/>
          <a:stretch>
            <a:fillRect/>
          </a:stretch>
        </p:blipFill>
        <p:spPr bwMode="auto">
          <a:xfrm>
            <a:off x="8331419" y="6739257"/>
            <a:ext cx="1625420" cy="2428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43718"/>
      </p:ext>
    </p:extLst>
  </p:cSld>
  <p:clrMapOvr>
    <a:masterClrMapping/>
  </p:clrMapOvr>
  <p:transition spd="slow" advClick="0" advTm="2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0"/>
                                        <p:tgtEl>
                                          <p:spTgt spid="24"/>
                                        </p:tgtEl>
                                      </p:cBhvr>
                                    </p:animEffect>
                                    <p:anim calcmode="lin" valueType="num">
                                      <p:cBhvr>
                                        <p:cTn id="8" dur="2000" fill="hold"/>
                                        <p:tgtEl>
                                          <p:spTgt spid="24"/>
                                        </p:tgtEl>
                                        <p:attrNameLst>
                                          <p:attrName>ppt_w</p:attrName>
                                        </p:attrNameLst>
                                      </p:cBhvr>
                                      <p:tavLst>
                                        <p:tav tm="0" fmla="#ppt_w*sin(2.5*pi*$)">
                                          <p:val>
                                            <p:fltVal val="0"/>
                                          </p:val>
                                        </p:tav>
                                        <p:tav tm="100000">
                                          <p:val>
                                            <p:fltVal val="1"/>
                                          </p:val>
                                        </p:tav>
                                      </p:tavLst>
                                    </p:anim>
                                    <p:anim calcmode="lin" valueType="num">
                                      <p:cBhvr>
                                        <p:cTn id="9" dur="2000" fill="hold"/>
                                        <p:tgtEl>
                                          <p:spTgt spid="24"/>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2000"/>
                                        <p:tgtEl>
                                          <p:spTgt spid="25"/>
                                        </p:tgtEl>
                                      </p:cBhvr>
                                    </p:animEffect>
                                    <p:anim calcmode="lin" valueType="num">
                                      <p:cBhvr>
                                        <p:cTn id="13" dur="2000" fill="hold"/>
                                        <p:tgtEl>
                                          <p:spTgt spid="25"/>
                                        </p:tgtEl>
                                        <p:attrNameLst>
                                          <p:attrName>ppt_w</p:attrName>
                                        </p:attrNameLst>
                                      </p:cBhvr>
                                      <p:tavLst>
                                        <p:tav tm="0" fmla="#ppt_w*sin(2.5*pi*$)">
                                          <p:val>
                                            <p:fltVal val="0"/>
                                          </p:val>
                                        </p:tav>
                                        <p:tav tm="100000">
                                          <p:val>
                                            <p:fltVal val="1"/>
                                          </p:val>
                                        </p:tav>
                                      </p:tavLst>
                                    </p:anim>
                                    <p:anim calcmode="lin" valueType="num">
                                      <p:cBhvr>
                                        <p:cTn id="14" dur="2000" fill="hold"/>
                                        <p:tgtEl>
                                          <p:spTgt spid="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Luxury Brand Logo 'eyecan' in Gold and Black">
            <a:hlinkClick r:id="" action="ppaction://media"/>
            <a:extLst>
              <a:ext uri="{FF2B5EF4-FFF2-40B4-BE49-F238E27FC236}">
                <a16:creationId xmlns:a16="http://schemas.microsoft.com/office/drawing/2014/main" xmlns="" id="{38D76407-4DEB-4E60-96C5-8C4449CB23D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9588" y="-3026588"/>
            <a:ext cx="12911175" cy="12911175"/>
          </a:xfrm>
          <a:prstGeom prst="rect">
            <a:avLst/>
          </a:prstGeom>
        </p:spPr>
      </p:pic>
      <p:sp>
        <p:nvSpPr>
          <p:cNvPr id="3" name="TextBox 2">
            <a:extLst>
              <a:ext uri="{FF2B5EF4-FFF2-40B4-BE49-F238E27FC236}">
                <a16:creationId xmlns:a16="http://schemas.microsoft.com/office/drawing/2014/main" xmlns="" id="{8F2E0378-C739-49C6-B061-40058523A076}"/>
              </a:ext>
            </a:extLst>
          </p:cNvPr>
          <p:cNvSpPr txBox="1"/>
          <p:nvPr/>
        </p:nvSpPr>
        <p:spPr>
          <a:xfrm>
            <a:off x="1039904" y="4870012"/>
            <a:ext cx="10112189" cy="707886"/>
          </a:xfrm>
          <a:prstGeom prst="rect">
            <a:avLst/>
          </a:prstGeom>
          <a:noFill/>
        </p:spPr>
        <p:txBody>
          <a:bodyPr wrap="square" rtlCol="1">
            <a:spAutoFit/>
          </a:bodyPr>
          <a:lstStyle/>
          <a:p>
            <a:pPr algn="ctr"/>
            <a:r>
              <a:rPr lang="en-US" sz="4000" dirty="0">
                <a:latin typeface="Aldhabi" panose="01000000000000000000" pitchFamily="2" charset="-78"/>
                <a:cs typeface="Aldhabi" panose="01000000000000000000" pitchFamily="2" charset="-78"/>
              </a:rPr>
              <a:t>Maryam aljelekh || Rama </a:t>
            </a:r>
            <a:r>
              <a:rPr lang="en-US" sz="4000" dirty="0" err="1">
                <a:latin typeface="Aldhabi" panose="01000000000000000000" pitchFamily="2" charset="-78"/>
                <a:cs typeface="Aldhabi" panose="01000000000000000000" pitchFamily="2" charset="-78"/>
              </a:rPr>
              <a:t>alnajjar</a:t>
            </a:r>
            <a:r>
              <a:rPr lang="en-US" sz="4000" dirty="0">
                <a:latin typeface="Aldhabi" panose="01000000000000000000" pitchFamily="2" charset="-78"/>
                <a:cs typeface="Aldhabi" panose="01000000000000000000" pitchFamily="2" charset="-78"/>
              </a:rPr>
              <a:t> || Najwa </a:t>
            </a:r>
            <a:r>
              <a:rPr lang="en-US" sz="4000" dirty="0" err="1">
                <a:latin typeface="Aldhabi" panose="01000000000000000000" pitchFamily="2" charset="-78"/>
                <a:cs typeface="Aldhabi" panose="01000000000000000000" pitchFamily="2" charset="-78"/>
              </a:rPr>
              <a:t>aljulani</a:t>
            </a:r>
            <a:r>
              <a:rPr lang="en-US" sz="4000" dirty="0">
                <a:latin typeface="Aldhabi" panose="01000000000000000000" pitchFamily="2" charset="-78"/>
                <a:cs typeface="Aldhabi" panose="01000000000000000000" pitchFamily="2" charset="-78"/>
              </a:rPr>
              <a:t> || Aya </a:t>
            </a:r>
            <a:r>
              <a:rPr lang="en-US" sz="4000" dirty="0" err="1">
                <a:latin typeface="Aldhabi" panose="01000000000000000000" pitchFamily="2" charset="-78"/>
                <a:cs typeface="Aldhabi" panose="01000000000000000000" pitchFamily="2" charset="-78"/>
              </a:rPr>
              <a:t>algharaibeh</a:t>
            </a:r>
            <a:endParaRPr lang="ar-JO" sz="4000" dirty="0">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3762955307"/>
      </p:ext>
    </p:extLst>
  </p:cSld>
  <p:clrMapOvr>
    <a:masterClrMapping/>
  </p:clrMapOvr>
  <p:transition spd="slow" advClick="0" advTm="2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2742</TotalTime>
  <Words>351</Words>
  <Application>Microsoft Office PowerPoint</Application>
  <PresentationFormat>Custom</PresentationFormat>
  <Paragraphs>19</Paragraphs>
  <Slides>8</Slides>
  <Notes>0</Notes>
  <HiddenSlides>0</HiddenSlides>
  <MMClips>1</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 aljelekh</dc:creator>
  <cp:lastModifiedBy>qusay</cp:lastModifiedBy>
  <cp:revision>109</cp:revision>
  <dcterms:created xsi:type="dcterms:W3CDTF">2025-09-15T19:04:25Z</dcterms:created>
  <dcterms:modified xsi:type="dcterms:W3CDTF">2025-09-17T18:21:06Z</dcterms:modified>
</cp:coreProperties>
</file>